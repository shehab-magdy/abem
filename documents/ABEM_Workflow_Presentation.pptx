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0"/>
            <a:ext cx="7315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6FBF"/>
                </a:solidFill>
              </a:rPr>
              <a:t>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</a:rPr>
              <a:t>ABEM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A"/>
                </a:solidFill>
              </a:rPr>
              <a:t>Apartment &amp; Building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0FA"/>
                </a:solidFill>
              </a:rPr>
              <a:t>Expense Management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CEF5"/>
                </a:solidFill>
              </a:rPr>
              <a:t>Application Workflow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463040" cy="27432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0FA"/>
                </a:solidFill>
              </a:rPr>
              <a:t>Version 3.1  |  March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</a:rPr>
              <a:t>Platform at a Glance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463040"/>
            <a:ext cx="169164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Multi-Tenant SaaS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0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ECEF5"/>
                </a:solidFill>
              </a:rPr>
              <a:t>Manage unlimited buildings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0" y="1463040"/>
            <a:ext cx="169164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 User Roles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0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ECEF5"/>
                </a:solidFill>
              </a:rPr>
              <a:t>Admin &amp; Owner with RBAC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03520" y="2468880"/>
            <a:ext cx="169164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 Split Types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2816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ECEF5"/>
                </a:solidFill>
              </a:rPr>
              <a:t>Flexible expense distribution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32320" y="2468880"/>
            <a:ext cx="169164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Bilingual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2816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ECEF5"/>
                </a:solidFill>
              </a:rPr>
              <a:t>English &amp; Arabic (RTL)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03520" y="3474720"/>
            <a:ext cx="169164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Full Audit Trail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ECEF5"/>
                </a:solidFill>
              </a:rPr>
              <a:t>Every action logged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32320" y="3474720"/>
            <a:ext cx="169164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Web +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ECEF5"/>
                </a:solidFill>
              </a:rPr>
              <a:t>React 18 + Django REST</a:t>
            </a:r>
            <a:endParaRPr lang="en-US" sz="7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4297680"/>
            <a:ext cx="356616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Technical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How ABEM is Built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layered, API-first architecture with stateless backend and horizontally scalable services.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0876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563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90D9"/>
                </a:solidFill>
              </a:rPr>
              <a:t>Web Client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React 18 + MUI v5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5087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508760"/>
            <a:ext cx="54864" cy="6858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563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6FBF"/>
                </a:solidFill>
              </a:rPr>
              <a:t>Application API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82696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Django 4.2 + DRF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13432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13432"/>
            <a:ext cx="54864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2368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A5C"/>
                </a:solidFill>
              </a:rPr>
              <a:t>Data Layer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8056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PostgreSQL 16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313432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313432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2368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Task Queue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82696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Celery + Redis 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18104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18104"/>
            <a:ext cx="54864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172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</a:rPr>
              <a:t>File Storage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8056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Cloudinary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3118104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3118104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3172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Auth &amp; Security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82696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SimpleJWT + RBAC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804672"/>
            <a:ext cx="29260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896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Request 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1280160"/>
            <a:ext cx="2468880" cy="292608"/>
          </a:xfrm>
          <a:prstGeom prst="rect">
            <a:avLst/>
          </a:prstGeom>
          <a:solidFill>
            <a:srgbClr val="4A90D9">
              <a:alpha val="12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</a:rPr>
              <a:t>Browser / Client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06640" y="1572768"/>
            <a:ext cx="1828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755648"/>
            <a:ext cx="2468880" cy="292608"/>
          </a:xfrm>
          <a:prstGeom prst="rect">
            <a:avLst/>
          </a:prstGeom>
          <a:solidFill>
            <a:srgbClr val="1F6FBF">
              <a:alpha val="12000"/>
            </a:srgbClr>
          </a:solidFill>
          <a:ln w="10160">
            <a:solidFill>
              <a:srgbClr val="1F6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BF"/>
                </a:solidFill>
              </a:rPr>
              <a:t>JWT Auth Middleware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06640" y="2048256"/>
            <a:ext cx="1828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231136"/>
            <a:ext cx="246888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231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RBAC Permission Check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06640" y="2523744"/>
            <a:ext cx="1828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2706624"/>
            <a:ext cx="2468880" cy="292608"/>
          </a:xfrm>
          <a:prstGeom prst="rect">
            <a:avLst/>
          </a:prstGeom>
          <a:solidFill>
            <a:srgbClr val="1F6FBF">
              <a:alpha val="12000"/>
            </a:srgbClr>
          </a:solidFill>
          <a:ln w="10160">
            <a:solidFill>
              <a:srgbClr val="1F6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706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BF"/>
                </a:solidFill>
              </a:rPr>
              <a:t>DRF View / Serializer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06640" y="2999232"/>
            <a:ext cx="1828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3182112"/>
            <a:ext cx="2468880" cy="292608"/>
          </a:xfrm>
          <a:prstGeom prst="rect">
            <a:avLst/>
          </a:prstGeom>
          <a:solidFill>
            <a:srgbClr val="1A3A5C">
              <a:alpha val="12000"/>
            </a:srgbClr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182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PostgreSQL Query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06640" y="3474720"/>
            <a:ext cx="1828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3657600"/>
            <a:ext cx="246888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657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Celery Async Task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06640" y="3950208"/>
            <a:ext cx="1828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4133088"/>
            <a:ext cx="246888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4133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JSON Response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4663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🐳  Docker Compose — Full stack in one command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 Roles &amp; Access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Security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Two Roles. Clear Boundaries.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RBAC enforced at API layer via permission classes. JWT payload embeds role and user ID.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148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08760"/>
            <a:ext cx="4114800" cy="50292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👑  ADMIN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Full building CRUD (multi-building)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Manage all units &amp; invite owners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Create / edit / delete expenses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Record payments &amp; generate receipts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admin dashboard &amp; analytics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Manage all users (create, activate)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Broadcast announcements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full audit log &amp; export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Manage building assets &amp; sales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Configure expense categories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41148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508760"/>
            <a:ext cx="411480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OWNER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084832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own building &amp; unit (read-only)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shared expenses + own share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own payment history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Download own PDF receipts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owner dashboard &amp; charts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Send direct messages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View own in-app notifications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Claim unit via registration 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Update own profile &amp; picture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Change password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956048"/>
            <a:ext cx="8503920" cy="0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🔒  JWT HS256  •  15-min access token  •  7-day refresh token  •  Blacklist on logout  •  Account lockout after 5 failed attempts (HTTP 423)  •  TLS 1.2+ enforced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1: User Registration &amp; Onboarding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3 Self-Registration Paths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283464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Owner 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453896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Account Info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(name, email, password)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1892808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48256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203704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Select Building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+ Claim Unit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63040" y="2642616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98064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953512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8529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Done → Dashboard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0896" y="3630168"/>
            <a:ext cx="2651760" cy="15087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593592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" y="3630168"/>
            <a:ext cx="2578608" cy="143560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172968" y="822960"/>
            <a:ext cx="2834640" cy="38404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72968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Path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310128" y="1298448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74136" y="1453896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74136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39896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Account Info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+ Role Selection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453128" y="1892808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10128" y="2048256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374136" y="2203704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74136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739896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Define Buildings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(auto-creates units)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453128" y="2642616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10128" y="2798064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374136" y="2953512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74136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739896" y="28529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Optionally Claim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Own Unit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453128" y="3392424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310128" y="3547872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374136" y="3703320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74136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3739896" y="3602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Done → Dashboard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300984" y="4379976"/>
            <a:ext cx="2651760" cy="15087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64408" y="43434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00984" y="4379976"/>
            <a:ext cx="2578608" cy="1435608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6163056" y="822960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163056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Invite-Code Path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6300216" y="1298448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6364224" y="1453896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364224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6729984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Click Invite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(email pre-filled)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7443216" y="1892808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300216" y="2048256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6364224" y="2203704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364224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60" name="Text 56"/>
          <p:cNvSpPr/>
          <p:nvPr/>
        </p:nvSpPr>
        <p:spPr>
          <a:xfrm>
            <a:off x="6729984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Complete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Account Info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7443216" y="2642616"/>
            <a:ext cx="27432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300216" y="2798064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3" name="Shape 59"/>
          <p:cNvSpPr/>
          <p:nvPr/>
        </p:nvSpPr>
        <p:spPr>
          <a:xfrm>
            <a:off x="6364224" y="2953512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364224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6729984" y="28529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Auto-Claim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Invited Unit → Done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6291072" y="3630168"/>
            <a:ext cx="2651760" cy="15087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6254496" y="3593592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91072" y="3630168"/>
            <a:ext cx="2578608" cy="1435608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🔐  Invite-code path: one-time 8-char alphanumeric code  •  30-day expiry  •  Single-use token  •  Multiple owners supported per unit via M2M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2: Building &amp; Unit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Admin Configuration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68680"/>
            <a:ext cx="54864" cy="65836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51560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9418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Create Building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179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Name, address, floors, # apartments, # stores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1527048"/>
            <a:ext cx="18288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67335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673352"/>
            <a:ext cx="54864" cy="65836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56232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1746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Auto-Unit Generation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1984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System creates A01, A02… &amp; S01, S02… distributed across floors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" y="2331720"/>
            <a:ext cx="18288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7802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478024"/>
            <a:ext cx="54864" cy="65836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660904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5511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Assign Co-Admins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Add additional admin users to share management duties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" y="3136392"/>
            <a:ext cx="18288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8269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282696"/>
            <a:ext cx="54864" cy="65836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465576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355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Invite Owners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Enter email → system sends invite link + 8-char code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" y="3941064"/>
            <a:ext cx="18288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08736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087368"/>
            <a:ext cx="54864" cy="65836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270248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4160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Owner Claims Unit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Via invite link or entering code in dashboard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91456" y="859536"/>
            <a:ext cx="411480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91456" y="859536"/>
            <a:ext cx="4041648" cy="184708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4754880" y="27889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Buildings List — Manage buildings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791456" y="2962656"/>
            <a:ext cx="4114800" cy="201168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54880" y="292608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91456" y="2962656"/>
            <a:ext cx="4041648" cy="193852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4754880" y="49834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Manage Units Dialog — Invite owners per unit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3: Expense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Split Engine &amp; Categories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 Expense Split Types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2057400" cy="868680"/>
          </a:xfrm>
          <a:prstGeom prst="rect">
            <a:avLst/>
          </a:prstGeom>
          <a:solidFill>
            <a:srgbClr val="1F6FBF">
              <a:alpha val="10000"/>
            </a:srgbClr>
          </a:solidFill>
          <a:ln w="12700">
            <a:solidFill>
              <a:srgbClr val="1F6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170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F"/>
                </a:solidFill>
              </a:rPr>
              <a:t>Equal — All Units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Divided equally across all apartments &amp; stores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133856"/>
            <a:ext cx="2057400" cy="868680"/>
          </a:xfrm>
          <a:prstGeom prst="rect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170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Apartments Only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4081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Only apartment-type units pay this expense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1133856"/>
            <a:ext cx="2057400" cy="86868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170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Stores Only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4081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Only store-type units receive a share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1133856"/>
            <a:ext cx="2057400" cy="8686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170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Custom Subset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14081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Select specific units &amp; assign decimal weights (e.g. 0.5 = half share)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66544"/>
            <a:ext cx="8503920" cy="310896"/>
          </a:xfrm>
          <a:prstGeom prst="rect">
            <a:avLst/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665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⚠  Rounding Rule: Every computed share is rounded UP to the nearest 5 EGP  (e.g. 22.01 → 25.00 · 26.00 → 30.00)  Total shares may exceed original expense amount.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" y="2505456"/>
            <a:ext cx="4160520" cy="25146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468880"/>
            <a:ext cx="416052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" y="2505456"/>
            <a:ext cx="4087368" cy="24414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20040" y="5029200"/>
            <a:ext cx="4160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Add Expense — Custom Subset split with weights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00016" y="2505456"/>
            <a:ext cx="4160520" cy="25146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2468880"/>
            <a:ext cx="416052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2505456"/>
            <a:ext cx="4087368" cy="24414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663440" y="5029200"/>
            <a:ext cx="4160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Expense Detail — Per-unit share breakdown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4: Payment Recording &amp; Receipts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Immutable Ledger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Payment Recording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25296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Admin selects unit + enters amount paid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618488"/>
            <a:ext cx="292608" cy="182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709928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6550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Optionally links to specific expense(s)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103120"/>
            <a:ext cx="292608" cy="182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194560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1396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Chooses payment method: Cash / Bank / Cheque / Wallet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587752"/>
            <a:ext cx="292608" cy="182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79192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624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SELECT FOR UPDATE locks apartment row — atomic update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072384"/>
            <a:ext cx="292608" cy="182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163824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108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balance_before &amp; balance_after snapshots stored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557016"/>
            <a:ext cx="292608" cy="182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648456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3593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Apartment balance decremented — negative = credit/overpayment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4041648"/>
            <a:ext cx="292608" cy="182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133088"/>
            <a:ext cx="292608" cy="292608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40782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PDF receipt generated via WeasyPrint (bilingual)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4526280"/>
            <a:ext cx="29260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17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Balance States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1325880" cy="237744"/>
          </a:xfrm>
          <a:prstGeom prst="rect">
            <a:avLst/>
          </a:prstGeom>
          <a:solidFill>
            <a:srgbClr val="16A34A">
              <a:alpha val="15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8463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Settled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83080" y="4846320"/>
            <a:ext cx="1325880" cy="237744"/>
          </a:xfrm>
          <a:prstGeom prst="rect">
            <a:avLst/>
          </a:prstGeom>
          <a:solidFill>
            <a:srgbClr val="DC2626">
              <a:alpha val="15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8463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Outstanding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46120" y="4846320"/>
            <a:ext cx="1325880" cy="237744"/>
          </a:xfrm>
          <a:prstGeom prst="rect">
            <a:avLst/>
          </a:prstGeom>
          <a:solidFill>
            <a:srgbClr val="2563EB">
              <a:alpha val="15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48463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Credit (Overpaid)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91456" y="841248"/>
            <a:ext cx="411480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804672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91456" y="841248"/>
            <a:ext cx="4041648" cy="166420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4754880" y="2587752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Payments Page — Balance summary per unit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791456" y="2688336"/>
            <a:ext cx="411480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754880" y="26517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91456" y="2688336"/>
            <a:ext cx="4041648" cy="166420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4754880" y="443484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Record Payment Dialog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4791456" y="4471416"/>
            <a:ext cx="4114800" cy="621792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754880" y="443484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91456" y="4471416"/>
            <a:ext cx="4041648" cy="54864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4754880" y="5102352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Auto-generated PDF Receipt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5: Dashboards &amp;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Real-Time Financial Insights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16052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👑  Admin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Total Income / Total Expenses cards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Overdue Accounts count (click → Buildings)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Building summary: units, occupied, vacant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Payment Coverage progress bar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Monthly Income vs Expenses bar chart (12 months)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Outstanding Balances sortable table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Filter by building &amp; date range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880360"/>
            <a:ext cx="416052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🏠  Owner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Personal balance summary card (Settled / Owed / Credit)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Recent expenses for own unit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Recent payments list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Expense breakdown pie chart by category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Claim unit section (enter registration code)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Filter by date range + Download Report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0016" y="841248"/>
            <a:ext cx="4160520" cy="41148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04672"/>
            <a:ext cx="4160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0016" y="841248"/>
            <a:ext cx="4087368" cy="40416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4965192"/>
            <a:ext cx="4160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Admin Dashboard — Full financial overview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6: Notifications &amp; Messaging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In-App Communication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Notification Triggers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54864" cy="56692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225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F"/>
                </a:solidFill>
              </a:rPr>
              <a:t>Expense Added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Auto-notifies all affected unit owners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117043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170432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1225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Payment Confirmed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79776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Notifies owner on payment recording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85623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856232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1911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Payment Due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" y="2130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Scheduled 3 days before due date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51760" y="185623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51760" y="1856232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9776" y="1911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Payment Overdue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79776" y="2130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Day after missed due date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54203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542032"/>
            <a:ext cx="54864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25968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Announcement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" y="2816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Admin broadcast to all building owners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51760" y="254203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51760" y="2542032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9776" y="25968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Direct Message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79776" y="2816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All / Admins / Owners / Specific person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3657600"/>
            <a:ext cx="4526280" cy="502920"/>
          </a:xfrm>
          <a:prstGeom prst="rect">
            <a:avLst/>
          </a:prstGeom>
          <a:solidFill>
            <a:srgbClr val="E8F0F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033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Messaging Restrictions  (Admin-controlled)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388620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messaging_blocked → user cannot send any messages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individual_messaging_blocked → direct messages blocked only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4526280" cy="502920"/>
          </a:xfrm>
          <a:prstGeom prst="rect">
            <a:avLst/>
          </a:prstGeom>
          <a:solidFill>
            <a:srgbClr val="E8F0F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976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Notification Center Layout  (Accordion Panels)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Send Message (indigo)  •  Broadcast Announcement (amber, admin only)  •  Your Notifications (green)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65776" y="841248"/>
            <a:ext cx="3840480" cy="41605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804672"/>
            <a:ext cx="3840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5776" y="841248"/>
            <a:ext cx="3767328" cy="408736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029200" y="5010912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Notification Center — Send, Broadcast &amp; Inbox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7: User Management &amp; Categories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Admin Configuration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52144"/>
            <a:ext cx="2029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52144"/>
            <a:ext cx="54864" cy="137160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2435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Admin Creates 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1499616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Set role (Admin or Owner)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Assign to building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Assign to specific unit(s)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Set initial password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152144"/>
            <a:ext cx="2029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152144"/>
            <a:ext cx="54864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2435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User Lifecycle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96896" y="1499616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Activate / Deactivate accounts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Reset password (admin-initiated)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Forced password change on next login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Account lockout after 5 failures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6616" y="2688336"/>
            <a:ext cx="4160520" cy="22860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5176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" y="2688336"/>
            <a:ext cx="4087368" cy="22128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4983480"/>
            <a:ext cx="4160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User Management — Create user with role &amp; unit assignment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Expense Categories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1152144"/>
            <a:ext cx="4160520" cy="749808"/>
          </a:xfrm>
          <a:prstGeom prst="rect">
            <a:avLst/>
          </a:prstGeom>
          <a:solidFill>
            <a:srgbClr val="E8F0F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1188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15 Default Categories auto-created per building: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1371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Maintenance · Utilities · Cleaning · Security · Elevator · Plumbing · Internet &amp; Cable · Parking · Landscaping · Pest Control · Fire Safety · Waste Management · Insurance · Management · Other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754880" y="1993392"/>
            <a:ext cx="41605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1993392"/>
            <a:ext cx="54864" cy="1280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82896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Fully Configurable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82896" y="234086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Per-building (not global)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Custom icon (Material icon name)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Custom hex color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Parent/subcategory — one level deep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91456" y="3438144"/>
            <a:ext cx="4160520" cy="1536192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3401568"/>
            <a:ext cx="41605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91456" y="3438144"/>
            <a:ext cx="4087368" cy="1463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54880" y="4983480"/>
            <a:ext cx="4160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Expense Categories — 15 defaults with icon &amp; color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8: Building Assets &amp; User Profile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Asset Register &amp; Account Settings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Building Asset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52144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52144"/>
            <a:ext cx="54864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Asset Register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14996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Name, type (Vehicle, Equipment, Furniture, Electronics, Property, Other)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Acquisition date &amp; value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Status: Active or Sold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54864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331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Record Sale (Immutable)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" y="25877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Sale date, price, buyer name &amp; contact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is_sold = True after recording — cannot be reversed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Summary: Total Sale Proceeds + Total Assets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6616" y="3374136"/>
            <a:ext cx="2011680" cy="1600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3756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" y="3374136"/>
            <a:ext cx="1938528" cy="1527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49834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Add Asset Dialog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505456" y="3374136"/>
            <a:ext cx="2011680" cy="1600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68880" y="333756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05456" y="3374136"/>
            <a:ext cx="1938528" cy="1527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468880" y="49834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Record Sale Dialog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 Profile &amp; Settings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754880" y="1152144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54880" y="1152144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82896" y="1243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Profile Management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82896" y="14996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Update name, phone number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Profile picture upload (JPG/PNG/WEBP, max 5 MB)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Stored in Cloudinary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754880" y="2157984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54880" y="2157984"/>
            <a:ext cx="54864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82896" y="22494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Language &amp; Security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82896" y="250545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Language preference: English / Arabic (persisted to DB)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Syncs across all devices via usePreferredLanguage hook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Change password (requires current password confirmation)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Session expiry warning 30s before token expiry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791456" y="3465576"/>
            <a:ext cx="4160520" cy="15087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342900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91456" y="3465576"/>
            <a:ext cx="4087368" cy="1435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54880" y="4983480"/>
            <a:ext cx="4160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My Profile — Personal info, language &amp; password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Security Architecture &amp; Audit Trail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Enterprise-Grade Protection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Security Layers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2029968" cy="347472"/>
          </a:xfrm>
          <a:prstGeom prst="rect">
            <a:avLst/>
          </a:prstGeom>
          <a:solidFill>
            <a:srgbClr val="1F6FBF">
              <a:alpha val="12000"/>
            </a:srgbClr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FBF"/>
                </a:solidFill>
              </a:rPr>
              <a:t>🔑  JWT HS256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5636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15-min access + 7-day refresh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Blacklist on logout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117043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170432"/>
            <a:ext cx="2029968" cy="347472"/>
          </a:xfrm>
          <a:prstGeom prst="rect">
            <a:avLst/>
          </a:prstGeom>
          <a:solidFill>
            <a:srgbClr val="1A3A5C">
              <a:alpha val="12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🛡️  RBAC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7752" y="15636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IsAdminRole / IsAuthenticated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Enforced at API layer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72584" y="117043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170432"/>
            <a:ext cx="2029968" cy="347472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🔒  Account Lockout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64024" y="15636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5 failed attempts → HTTP 423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Configurable cooldown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48856" y="117043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170432"/>
            <a:ext cx="2029968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🏢  Multi-Tenant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0296" y="15636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Isolation via UserBuilding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No cross-tenant data leaks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40487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404872"/>
            <a:ext cx="2029968" cy="347472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⚡  Atomic Payments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27980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SELECT FOR UPDATE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Race condition prevention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96312" y="240487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96312" y="2404872"/>
            <a:ext cx="2029968" cy="34747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87752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🔐  OWASP Top 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87752" y="27980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SQL injection via ORM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XSS via React escaping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File type whitelist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72584" y="240487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72584" y="2404872"/>
            <a:ext cx="2029968" cy="347472"/>
          </a:xfrm>
          <a:prstGeom prst="rect">
            <a:avLst/>
          </a:prstGeom>
          <a:solidFill>
            <a:srgbClr val="1F6FBF">
              <a:alpha val="12000"/>
            </a:srgbClr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FBF"/>
                </a:solidFill>
              </a:rPr>
              <a:t>🌐  HTTPS / TLS 1.2+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64024" y="27980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PBKDF2 password hashing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CORS configured origins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Secrets in env vars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48856" y="2404872"/>
            <a:ext cx="20299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856" y="2404872"/>
            <a:ext cx="2029968" cy="347472"/>
          </a:xfrm>
          <a:prstGeom prst="rect">
            <a:avLst/>
          </a:prstGeom>
          <a:solidFill>
            <a:srgbClr val="1A3A5C">
              <a:alpha val="12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0296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⏱️  Rate Limiting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0296" y="27980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django-ratelimit on auth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429 after threshold exceeded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730752"/>
            <a:ext cx="8503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7307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 Audit Log — Every Write Operation Recorded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1330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Fields captured: acting user · action label · entity type · entity UUID · before/after JSON diff · IP address · user agent · timestamp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35254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create  •  update  •  delete  •  login  •  logout  •  lockout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5537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activate  •  deactivate  •  reset_password  •  expense.marked_paid  •  payment.recorded  •  user.buildings_assigned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347472" cy="347472"/>
          </a:xfrm>
          <a:prstGeom prst="ellipse">
            <a:avLst/>
          </a:prstGeom>
          <a:solidFill>
            <a:srgbClr val="1F6FB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EF5"/>
                </a:solidFill>
              </a:rPr>
              <a:t>Full-Stack Reference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29968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280160"/>
            <a:ext cx="1810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React 18 + Vite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Material-UI v5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Zustand (state)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React Router v6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Axios + AbortController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i18next (14 namespaces)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stylis-plugin-rtl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804672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804672"/>
            <a:ext cx="2029968" cy="4114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80467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280160"/>
            <a:ext cx="1810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Django 4.2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Django REST Framework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SimpleJWT auth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drf-spectacular (OpenAPI)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Celery + Celery Beat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Redis 7 (broker)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WeasyPrint (PDF)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804672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804672"/>
            <a:ext cx="2029968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80467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280160"/>
            <a:ext cx="1810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PostgreSQL 16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DECIMAL(10,2) for money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UUID primary keys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Soft-delete pattern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SELECT FOR UPDATE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Targeted DB indexes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Append-only audit logs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804672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804672"/>
            <a:ext cx="202996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80467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58584" y="1280160"/>
            <a:ext cx="1810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Docker + Docker Compose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Cloudinary (media)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GZip compression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WhiteNoise (static)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GitHub Actions CI/CD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ESLint v9 flat config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Playwright 300+ tests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892040"/>
            <a:ext cx="8503920" cy="0"/>
          </a:xfrm>
          <a:prstGeom prst="rect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🌍  Bilingual (EN / AR · RTL)  •  Eastern Arabic-Indic numerals for EGP values  •  Cairo font (AR) / Inter font (EN)  •  Backend validation errors in requested language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</a:rPr>
              <a:t>ABEM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A"/>
                </a:solidFill>
              </a:rPr>
              <a:t>Complete Workflow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2240280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235000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Registration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78892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3 paths: Owner · Admin · Invite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96312" y="2240280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35000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4952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Building Setup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Create → Auto-units → Invite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72584" y="2240280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235000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21224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Expenses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82312" y="278892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4 split types + rounding + categories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48856" y="2240280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8584" y="235000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97496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Payments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58584" y="278892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Atomic ledger · PDF receipt · balance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538728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64845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Dashboards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408736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Admin overview · Owner financials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96312" y="3538728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364845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44952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Notifications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06040" y="408736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Auto-triggers · Broadcast · DM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72584" y="3538728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364845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21224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 &amp; Exports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82312" y="408736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Full audit trail · CSV/XLSX export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48856" y="3538728"/>
            <a:ext cx="2029968" cy="1115568"/>
          </a:xfrm>
          <a:prstGeom prst="rect">
            <a:avLst/>
          </a:prstGeom>
          <a:solidFill>
            <a:srgbClr val="1B4A7A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364845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97496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58584" y="408736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F0"/>
                </a:solidFill>
              </a:rPr>
              <a:t>JWT · RBAC · Lockout · Multi-tenant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8DB8"/>
                </a:solidFill>
              </a:rPr>
              <a:t>© 2026 ABEM  •  Apartment &amp; Building Expense Management  •  abem.app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ABEM — Application Workflow</dc:title>
  <dc:subject>PptxGenJS Presentation</dc:subject>
  <dc:creator>ABEM Team</dc:creator>
  <cp:lastModifiedBy>ABEM Team</cp:lastModifiedBy>
  <cp:revision>1</cp:revision>
  <dcterms:created xsi:type="dcterms:W3CDTF">2026-03-23T17:51:46Z</dcterms:created>
  <dcterms:modified xsi:type="dcterms:W3CDTF">2026-03-23T17:51:46Z</dcterms:modified>
</cp:coreProperties>
</file>