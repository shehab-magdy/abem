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EG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EG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EG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EG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E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EG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E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E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EG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E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E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EG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E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66DD39-70F7-4FA7-A6E4-707E30F9DA2B}" type="slidenum">
              <a:rPr lang="en-E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EG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A7626A-31D3-40B5-A9AD-05C5C24601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63B9D4-D9CF-412C-B844-3E4B477D30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9C61F2-4FD7-431C-9D2B-E8C838373E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623953-BC03-4ED0-AB98-1424D63F2A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D9CDEC-BC7C-4863-84EE-41BD6AB36C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1F746-8571-48F3-945B-585D9BD437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997C5F-1D35-4D0A-9139-C2BA8D68C9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29A74F-497B-4143-9FA8-17B50888A2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85ED92-3A97-475C-83A0-59B72EA426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BAE3D-AA33-4E97-A0BA-D20071FFBC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6A67E0-9395-4A5A-8E08-0B77EED46A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688BFF-4332-4332-B4B9-96125FCB6F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B0E113-3C7B-4415-B3DC-ECFE5E5A05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BE25B2-117E-4E7F-93BD-B3E3D634C5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EG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EG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EG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EG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EG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EG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EG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EG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EG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EG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EG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EG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EG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EG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EG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EG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5028840" cy="514332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4480560" y="0"/>
            <a:ext cx="731160" cy="5143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8640" y="731520"/>
            <a:ext cx="1005480" cy="1005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F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73152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A</a:t>
            </a:r>
            <a:endParaRPr lang="en-EG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201168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400" strike="noStrike">
                <a:solidFill>
                  <a:srgbClr val="FFFFFF"/>
                </a:solidFill>
                <a:effectLst/>
                <a:uFillTx/>
                <a:latin typeface="Calibri"/>
              </a:rPr>
              <a:t>ABEM</a:t>
            </a:r>
            <a:endParaRPr lang="en-EG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283464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F0FA"/>
                </a:solidFill>
                <a:effectLst/>
                <a:uFillTx/>
                <a:latin typeface="Calibri"/>
              </a:rPr>
              <a:t>Apartment &amp; Building</a:t>
            </a:r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F0FA"/>
                </a:solidFill>
                <a:effectLst/>
                <a:uFillTx/>
                <a:latin typeface="Calibri"/>
              </a:rPr>
              <a:t>Expense Management</a:t>
            </a:r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374904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Application Workflow Overview</a:t>
            </a:r>
            <a:endParaRPr lang="en-EG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48640" y="4297680"/>
            <a:ext cx="1462680" cy="273960"/>
          </a:xfrm>
          <a:prstGeom prst="rect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48640" y="42976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E8F0FA"/>
                </a:solidFill>
                <a:effectLst/>
                <a:uFillTx/>
                <a:latin typeface="Calibri"/>
              </a:rPr>
              <a:t>Version 3.1  |  March 2026</a:t>
            </a:r>
            <a:endParaRPr lang="en-EG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303520" y="914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A90D9"/>
                </a:solidFill>
                <a:effectLst/>
                <a:uFillTx/>
                <a:latin typeface="Calibri"/>
              </a:rPr>
              <a:t>Platform at a Glance</a:t>
            </a:r>
            <a:endParaRPr lang="en-EG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5303520" y="1463040"/>
            <a:ext cx="1691280" cy="7768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5394960" y="15544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Multi-Tenant SaaS</a:t>
            </a:r>
            <a:endParaRPr lang="en-EG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5394960" y="181044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Manage unlimited buildings</a:t>
            </a:r>
            <a:endParaRPr lang="en-EG" sz="75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7132320" y="1463040"/>
            <a:ext cx="1691280" cy="7768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7223760" y="15544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2 User Roles</a:t>
            </a:r>
            <a:endParaRPr lang="en-EG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7223760" y="181044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Admin &amp; Owner with RBAC</a:t>
            </a:r>
            <a:endParaRPr lang="en-EG" sz="75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5303520" y="2468880"/>
            <a:ext cx="1691280" cy="7768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5394960" y="25603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4 Split Types</a:t>
            </a:r>
            <a:endParaRPr lang="en-EG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5394960" y="281628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Flexible expense distribution</a:t>
            </a:r>
            <a:endParaRPr lang="en-EG" sz="75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132320" y="2468880"/>
            <a:ext cx="1691280" cy="7768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7223760" y="25603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Bilingual</a:t>
            </a:r>
            <a:endParaRPr lang="en-EG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7223760" y="281628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English &amp; Arabic (RTL)</a:t>
            </a:r>
            <a:endParaRPr lang="en-EG" sz="75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5303520" y="3474720"/>
            <a:ext cx="1691280" cy="7768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5394960" y="35661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Full Audit Trail</a:t>
            </a:r>
            <a:endParaRPr lang="en-EG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394960" y="382212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Every action logged</a:t>
            </a:r>
            <a:endParaRPr lang="en-EG" sz="75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7132320" y="3474720"/>
            <a:ext cx="1691280" cy="7768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7223760" y="35661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Web + API</a:t>
            </a:r>
            <a:endParaRPr lang="en-EG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223760" y="382212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React 18 + Django REST</a:t>
            </a:r>
            <a:endParaRPr lang="en-EG" sz="75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0" descr="preencoded.png"/>
          <p:cNvPicPr/>
          <p:nvPr/>
        </p:nvPicPr>
        <p:blipFill>
          <a:blip r:embed="rId1"/>
          <a:stretch/>
        </p:blipFill>
        <p:spPr>
          <a:xfrm>
            <a:off x="5303520" y="4297680"/>
            <a:ext cx="3565800" cy="63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Architecture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Technical Overview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365760" y="82296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How ABEM is Built</a:t>
            </a:r>
            <a:endParaRPr lang="en-EG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365760" y="11430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 layered, API-first architecture with stateless backend and horizontally scalable services.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320040" y="1508760"/>
            <a:ext cx="260568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320040" y="1508760"/>
            <a:ext cx="54360" cy="685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448200" y="15634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A90D9"/>
                </a:solidFill>
                <a:effectLst/>
                <a:uFillTx/>
                <a:latin typeface="Calibri"/>
              </a:rPr>
              <a:t>Web Client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448200" y="17647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React 18 + MUI v5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3154680" y="1508760"/>
            <a:ext cx="260568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3154680" y="1508760"/>
            <a:ext cx="54360" cy="6854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3282840" y="15634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Application API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3282840" y="17647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Django 4.2 + DRF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320040" y="2313360"/>
            <a:ext cx="260568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320040" y="2313360"/>
            <a:ext cx="5436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448200" y="236844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Data Layer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448200" y="25693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PostgreSQL 16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3154680" y="2313360"/>
            <a:ext cx="260568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3154680" y="2313360"/>
            <a:ext cx="54360" cy="685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3282840" y="236844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Task Queue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3282840" y="25693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Celery + Redis 7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320040" y="3117960"/>
            <a:ext cx="260568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4"/>
          <p:cNvSpPr/>
          <p:nvPr/>
        </p:nvSpPr>
        <p:spPr>
          <a:xfrm>
            <a:off x="320040" y="3117960"/>
            <a:ext cx="54360" cy="685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448200" y="317304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File Storage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448200" y="3374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Cloudinary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7"/>
          <p:cNvSpPr/>
          <p:nvPr/>
        </p:nvSpPr>
        <p:spPr>
          <a:xfrm>
            <a:off x="3154680" y="3117960"/>
            <a:ext cx="260568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8"/>
          <p:cNvSpPr/>
          <p:nvPr/>
        </p:nvSpPr>
        <p:spPr>
          <a:xfrm>
            <a:off x="3154680" y="3117960"/>
            <a:ext cx="54360" cy="685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3282840" y="317304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Auth &amp; Security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3282840" y="3374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SimpleJWT + RBAC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1"/>
          <p:cNvSpPr/>
          <p:nvPr/>
        </p:nvSpPr>
        <p:spPr>
          <a:xfrm>
            <a:off x="6035040" y="804600"/>
            <a:ext cx="2925720" cy="416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6172200" y="8960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Request Flow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3"/>
          <p:cNvSpPr/>
          <p:nvPr/>
        </p:nvSpPr>
        <p:spPr>
          <a:xfrm>
            <a:off x="6263640" y="1280160"/>
            <a:ext cx="2468520" cy="292320"/>
          </a:xfrm>
          <a:prstGeom prst="rect">
            <a:avLst/>
          </a:prstGeom>
          <a:solidFill>
            <a:srgbClr val="4A90D9">
              <a:alpha val="12000"/>
            </a:srgbClr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4"/>
          <p:cNvSpPr/>
          <p:nvPr/>
        </p:nvSpPr>
        <p:spPr>
          <a:xfrm>
            <a:off x="6263640" y="12801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4A90D9"/>
                </a:solidFill>
                <a:effectLst/>
                <a:uFillTx/>
                <a:latin typeface="Calibri"/>
              </a:rPr>
              <a:t>Browser / Client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5"/>
          <p:cNvSpPr/>
          <p:nvPr/>
        </p:nvSpPr>
        <p:spPr>
          <a:xfrm>
            <a:off x="7406640" y="1572840"/>
            <a:ext cx="18000" cy="182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6"/>
          <p:cNvSpPr/>
          <p:nvPr/>
        </p:nvSpPr>
        <p:spPr>
          <a:xfrm>
            <a:off x="6263640" y="1755720"/>
            <a:ext cx="2468520" cy="292320"/>
          </a:xfrm>
          <a:prstGeom prst="rect">
            <a:avLst/>
          </a:prstGeom>
          <a:solidFill>
            <a:srgbClr val="1F6FBF">
              <a:alpha val="12000"/>
            </a:srgbClr>
          </a:solidFill>
          <a:ln w="1016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7"/>
          <p:cNvSpPr/>
          <p:nvPr/>
        </p:nvSpPr>
        <p:spPr>
          <a:xfrm>
            <a:off x="6263640" y="175572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JWT Auth Middleware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8"/>
          <p:cNvSpPr/>
          <p:nvPr/>
        </p:nvSpPr>
        <p:spPr>
          <a:xfrm>
            <a:off x="7406640" y="2048400"/>
            <a:ext cx="18000" cy="182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9"/>
          <p:cNvSpPr/>
          <p:nvPr/>
        </p:nvSpPr>
        <p:spPr>
          <a:xfrm>
            <a:off x="6263640" y="2231280"/>
            <a:ext cx="2468520" cy="292320"/>
          </a:xfrm>
          <a:prstGeom prst="rect">
            <a:avLst/>
          </a:prstGeom>
          <a:solidFill>
            <a:srgbClr val="D97706">
              <a:alpha val="12000"/>
            </a:srgbClr>
          </a:solidFill>
          <a:ln w="1016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0"/>
          <p:cNvSpPr/>
          <p:nvPr/>
        </p:nvSpPr>
        <p:spPr>
          <a:xfrm>
            <a:off x="6263640" y="22312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RBAC Permission Check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1"/>
          <p:cNvSpPr/>
          <p:nvPr/>
        </p:nvSpPr>
        <p:spPr>
          <a:xfrm>
            <a:off x="7406640" y="2523600"/>
            <a:ext cx="18000" cy="182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2"/>
          <p:cNvSpPr/>
          <p:nvPr/>
        </p:nvSpPr>
        <p:spPr>
          <a:xfrm>
            <a:off x="6263640" y="2706480"/>
            <a:ext cx="2468520" cy="292320"/>
          </a:xfrm>
          <a:prstGeom prst="rect">
            <a:avLst/>
          </a:prstGeom>
          <a:solidFill>
            <a:srgbClr val="1F6FBF">
              <a:alpha val="12000"/>
            </a:srgbClr>
          </a:solidFill>
          <a:ln w="1016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3"/>
          <p:cNvSpPr/>
          <p:nvPr/>
        </p:nvSpPr>
        <p:spPr>
          <a:xfrm>
            <a:off x="6263640" y="2706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DRF View / Serializer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4"/>
          <p:cNvSpPr/>
          <p:nvPr/>
        </p:nvSpPr>
        <p:spPr>
          <a:xfrm>
            <a:off x="7406640" y="2999160"/>
            <a:ext cx="18000" cy="182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5"/>
          <p:cNvSpPr/>
          <p:nvPr/>
        </p:nvSpPr>
        <p:spPr>
          <a:xfrm>
            <a:off x="6263640" y="3182040"/>
            <a:ext cx="2468520" cy="292320"/>
          </a:xfrm>
          <a:prstGeom prst="rect">
            <a:avLst/>
          </a:prstGeom>
          <a:solidFill>
            <a:srgbClr val="1A3A5C">
              <a:alpha val="12000"/>
            </a:srgbClr>
          </a:solidFill>
          <a:ln w="1016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6"/>
          <p:cNvSpPr/>
          <p:nvPr/>
        </p:nvSpPr>
        <p:spPr>
          <a:xfrm>
            <a:off x="6263640" y="318204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PostgreSQL Query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7"/>
          <p:cNvSpPr/>
          <p:nvPr/>
        </p:nvSpPr>
        <p:spPr>
          <a:xfrm>
            <a:off x="7406640" y="3474720"/>
            <a:ext cx="18000" cy="182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8"/>
          <p:cNvSpPr/>
          <p:nvPr/>
        </p:nvSpPr>
        <p:spPr>
          <a:xfrm>
            <a:off x="6263640" y="3657600"/>
            <a:ext cx="2468520" cy="292320"/>
          </a:xfrm>
          <a:prstGeom prst="rect">
            <a:avLst/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9"/>
          <p:cNvSpPr/>
          <p:nvPr/>
        </p:nvSpPr>
        <p:spPr>
          <a:xfrm>
            <a:off x="6263640" y="36576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Celery Async Task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0"/>
          <p:cNvSpPr/>
          <p:nvPr/>
        </p:nvSpPr>
        <p:spPr>
          <a:xfrm>
            <a:off x="7406640" y="3950280"/>
            <a:ext cx="18000" cy="182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1"/>
          <p:cNvSpPr/>
          <p:nvPr/>
        </p:nvSpPr>
        <p:spPr>
          <a:xfrm>
            <a:off x="6263640" y="4133160"/>
            <a:ext cx="2468520" cy="292320"/>
          </a:xfrm>
          <a:prstGeom prst="rect">
            <a:avLst/>
          </a:prstGeom>
          <a:solidFill>
            <a:srgbClr val="16A34A">
              <a:alpha val="12000"/>
            </a:srgbClr>
          </a:solidFill>
          <a:ln w="1016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2"/>
          <p:cNvSpPr/>
          <p:nvPr/>
        </p:nvSpPr>
        <p:spPr>
          <a:xfrm>
            <a:off x="6263640" y="41331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JSON Response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3"/>
          <p:cNvSpPr/>
          <p:nvPr/>
        </p:nvSpPr>
        <p:spPr>
          <a:xfrm>
            <a:off x="320040" y="4663440"/>
            <a:ext cx="557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🐳  Docker Compose — Full stack in one command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 Roles &amp; Access Control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Security Layer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365760" y="82296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Two Roles. Clear Boundaries.</a:t>
            </a:r>
            <a:endParaRPr lang="en-EG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365760" y="11430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RBAC enforced at API layer via permission classes. JWT payload embeds role and user ID.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320040" y="1508760"/>
            <a:ext cx="4114440" cy="333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320040" y="1508760"/>
            <a:ext cx="4114440" cy="50256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457200" y="153612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👑  ADMIN</a:t>
            </a:r>
            <a:endParaRPr lang="en-EG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457200" y="2084760"/>
            <a:ext cx="384012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Full building CRUD (multi-building)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Manage all units &amp; invite owners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Create / edit / delete expenses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Record payments &amp; generate receipts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View admin dashboard &amp; analytics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Manage all users (create, activate)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Broadcast announcements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View full audit log &amp; export data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Manage building assets &amp; sales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Configure expense categories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4709160" y="1508760"/>
            <a:ext cx="4114440" cy="333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4709160" y="1508760"/>
            <a:ext cx="4114440" cy="502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4846320" y="153612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🏠  OWNER</a:t>
            </a:r>
            <a:endParaRPr lang="en-EG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4846320" y="2084760"/>
            <a:ext cx="384012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View own building &amp; unit (read-only)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View shared expenses + own share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View own payment history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Download own PDF receipts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View owner dashboard &amp; charts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Send direct messages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View own in-app notifications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Claim unit via registration code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Update own profile &amp; picture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✓  Change password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5"/>
          <p:cNvSpPr/>
          <p:nvPr/>
        </p:nvSpPr>
        <p:spPr>
          <a:xfrm>
            <a:off x="320040" y="4956120"/>
            <a:ext cx="8503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320040" y="4826880"/>
            <a:ext cx="850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🔒  JWT HS256  •  15-min access token  •  7-day refresh token  •  Blacklist on logout  •  Account lockout after 5 failed attempts (HTTP 423)  •  TLS 1.2+ enforced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39"/>
          <p:cNvSpPr/>
          <p:nvPr/>
        </p:nvSpPr>
        <p:spPr>
          <a:xfrm>
            <a:off x="4417200" y="3248280"/>
            <a:ext cx="273960" cy="155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1: User Registration &amp; Onboarding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3 Self-Registration Paths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5"/>
          <p:cNvSpPr/>
          <p:nvPr/>
        </p:nvSpPr>
        <p:spPr>
          <a:xfrm>
            <a:off x="182880" y="822960"/>
            <a:ext cx="2834280" cy="383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182880" y="82296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Owner Path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320040" y="129852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384120" y="145404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384120" y="1454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749880" y="135324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Account Info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(name, email, password)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1463040" y="1892880"/>
            <a:ext cx="273960" cy="155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320040" y="204840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3"/>
          <p:cNvSpPr/>
          <p:nvPr/>
        </p:nvSpPr>
        <p:spPr>
          <a:xfrm>
            <a:off x="384120" y="22035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384120" y="2203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749880" y="210312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Select Building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+ Claim Unit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6"/>
          <p:cNvSpPr/>
          <p:nvPr/>
        </p:nvSpPr>
        <p:spPr>
          <a:xfrm>
            <a:off x="1463040" y="2642760"/>
            <a:ext cx="273960" cy="155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7"/>
          <p:cNvSpPr/>
          <p:nvPr/>
        </p:nvSpPr>
        <p:spPr>
          <a:xfrm>
            <a:off x="320040" y="279792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384120" y="295344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384120" y="2953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749880" y="285300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Done → Dashboard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1"/>
          <p:cNvSpPr/>
          <p:nvPr/>
        </p:nvSpPr>
        <p:spPr>
          <a:xfrm>
            <a:off x="311040" y="3630240"/>
            <a:ext cx="2651400" cy="15084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274320" y="3593520"/>
            <a:ext cx="265140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0" descr="preencoded.png"/>
          <p:cNvPicPr/>
          <p:nvPr/>
        </p:nvPicPr>
        <p:blipFill>
          <a:blip r:embed="rId1"/>
          <a:stretch/>
        </p:blipFill>
        <p:spPr>
          <a:xfrm>
            <a:off x="311040" y="3630240"/>
            <a:ext cx="2578320" cy="143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Shape 23"/>
          <p:cNvSpPr/>
          <p:nvPr/>
        </p:nvSpPr>
        <p:spPr>
          <a:xfrm>
            <a:off x="3173040" y="822960"/>
            <a:ext cx="2834280" cy="38376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3173040" y="82296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Admin Path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5"/>
          <p:cNvSpPr/>
          <p:nvPr/>
        </p:nvSpPr>
        <p:spPr>
          <a:xfrm>
            <a:off x="3310200" y="129852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6"/>
          <p:cNvSpPr/>
          <p:nvPr/>
        </p:nvSpPr>
        <p:spPr>
          <a:xfrm>
            <a:off x="3374280" y="145404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7"/>
          <p:cNvSpPr/>
          <p:nvPr/>
        </p:nvSpPr>
        <p:spPr>
          <a:xfrm>
            <a:off x="3374280" y="1454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8"/>
          <p:cNvSpPr/>
          <p:nvPr/>
        </p:nvSpPr>
        <p:spPr>
          <a:xfrm>
            <a:off x="3740040" y="135324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Account Info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+ Role Selection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9"/>
          <p:cNvSpPr/>
          <p:nvPr/>
        </p:nvSpPr>
        <p:spPr>
          <a:xfrm>
            <a:off x="4417200" y="1892880"/>
            <a:ext cx="273960" cy="155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0"/>
          <p:cNvSpPr/>
          <p:nvPr/>
        </p:nvSpPr>
        <p:spPr>
          <a:xfrm>
            <a:off x="3310200" y="198036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1"/>
          <p:cNvSpPr/>
          <p:nvPr/>
        </p:nvSpPr>
        <p:spPr>
          <a:xfrm>
            <a:off x="3374280" y="213120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2"/>
          <p:cNvSpPr/>
          <p:nvPr/>
        </p:nvSpPr>
        <p:spPr>
          <a:xfrm>
            <a:off x="3374280" y="2131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3"/>
          <p:cNvSpPr/>
          <p:nvPr/>
        </p:nvSpPr>
        <p:spPr>
          <a:xfrm>
            <a:off x="3740040" y="203976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Define Buildings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(auto-creates units)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4"/>
          <p:cNvSpPr/>
          <p:nvPr/>
        </p:nvSpPr>
        <p:spPr>
          <a:xfrm>
            <a:off x="4417200" y="2570760"/>
            <a:ext cx="273960" cy="155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5"/>
          <p:cNvSpPr/>
          <p:nvPr/>
        </p:nvSpPr>
        <p:spPr>
          <a:xfrm>
            <a:off x="3310200" y="269388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6"/>
          <p:cNvSpPr/>
          <p:nvPr/>
        </p:nvSpPr>
        <p:spPr>
          <a:xfrm>
            <a:off x="3374280" y="28047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7"/>
          <p:cNvSpPr/>
          <p:nvPr/>
        </p:nvSpPr>
        <p:spPr>
          <a:xfrm>
            <a:off x="3374280" y="2804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8"/>
          <p:cNvSpPr/>
          <p:nvPr/>
        </p:nvSpPr>
        <p:spPr>
          <a:xfrm>
            <a:off x="3740040" y="27532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Optionally Claim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Own Unit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0"/>
          <p:cNvSpPr/>
          <p:nvPr/>
        </p:nvSpPr>
        <p:spPr>
          <a:xfrm>
            <a:off x="3310200" y="333180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1"/>
          <p:cNvSpPr/>
          <p:nvPr/>
        </p:nvSpPr>
        <p:spPr>
          <a:xfrm>
            <a:off x="3374280" y="348732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2"/>
          <p:cNvSpPr/>
          <p:nvPr/>
        </p:nvSpPr>
        <p:spPr>
          <a:xfrm>
            <a:off x="3374280" y="3487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3"/>
          <p:cNvSpPr/>
          <p:nvPr/>
        </p:nvSpPr>
        <p:spPr>
          <a:xfrm>
            <a:off x="3740040" y="33868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Done → Dashboard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4"/>
          <p:cNvSpPr/>
          <p:nvPr/>
        </p:nvSpPr>
        <p:spPr>
          <a:xfrm>
            <a:off x="3300840" y="3804120"/>
            <a:ext cx="2651400" cy="15084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5"/>
          <p:cNvSpPr/>
          <p:nvPr/>
        </p:nvSpPr>
        <p:spPr>
          <a:xfrm>
            <a:off x="3264480" y="3767400"/>
            <a:ext cx="265140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1" descr="preencoded.png"/>
          <p:cNvPicPr/>
          <p:nvPr/>
        </p:nvPicPr>
        <p:blipFill>
          <a:blip r:embed="rId2"/>
          <a:stretch/>
        </p:blipFill>
        <p:spPr>
          <a:xfrm>
            <a:off x="3300840" y="3804120"/>
            <a:ext cx="2578320" cy="143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Shape 46"/>
          <p:cNvSpPr/>
          <p:nvPr/>
        </p:nvSpPr>
        <p:spPr>
          <a:xfrm>
            <a:off x="6163200" y="822960"/>
            <a:ext cx="2834280" cy="383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7"/>
          <p:cNvSpPr/>
          <p:nvPr/>
        </p:nvSpPr>
        <p:spPr>
          <a:xfrm>
            <a:off x="6163200" y="82296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Invite-Code Path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8"/>
          <p:cNvSpPr/>
          <p:nvPr/>
        </p:nvSpPr>
        <p:spPr>
          <a:xfrm>
            <a:off x="6300360" y="129852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9"/>
          <p:cNvSpPr/>
          <p:nvPr/>
        </p:nvSpPr>
        <p:spPr>
          <a:xfrm>
            <a:off x="6364080" y="145404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0"/>
          <p:cNvSpPr/>
          <p:nvPr/>
        </p:nvSpPr>
        <p:spPr>
          <a:xfrm>
            <a:off x="6364080" y="1454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1"/>
          <p:cNvSpPr/>
          <p:nvPr/>
        </p:nvSpPr>
        <p:spPr>
          <a:xfrm>
            <a:off x="6729840" y="135324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Click Invite Link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(email pre-filled)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2"/>
          <p:cNvSpPr/>
          <p:nvPr/>
        </p:nvSpPr>
        <p:spPr>
          <a:xfrm>
            <a:off x="7443360" y="1892880"/>
            <a:ext cx="273960" cy="155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3"/>
          <p:cNvSpPr/>
          <p:nvPr/>
        </p:nvSpPr>
        <p:spPr>
          <a:xfrm>
            <a:off x="6300360" y="204840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54"/>
          <p:cNvSpPr/>
          <p:nvPr/>
        </p:nvSpPr>
        <p:spPr>
          <a:xfrm>
            <a:off x="6364080" y="22035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5"/>
          <p:cNvSpPr/>
          <p:nvPr/>
        </p:nvSpPr>
        <p:spPr>
          <a:xfrm>
            <a:off x="6364080" y="2203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6"/>
          <p:cNvSpPr/>
          <p:nvPr/>
        </p:nvSpPr>
        <p:spPr>
          <a:xfrm>
            <a:off x="6729840" y="210312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Complete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Account Info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7"/>
          <p:cNvSpPr/>
          <p:nvPr/>
        </p:nvSpPr>
        <p:spPr>
          <a:xfrm>
            <a:off x="7443360" y="2642760"/>
            <a:ext cx="273960" cy="155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58"/>
          <p:cNvSpPr/>
          <p:nvPr/>
        </p:nvSpPr>
        <p:spPr>
          <a:xfrm>
            <a:off x="6300360" y="2797920"/>
            <a:ext cx="255996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9"/>
          <p:cNvSpPr/>
          <p:nvPr/>
        </p:nvSpPr>
        <p:spPr>
          <a:xfrm>
            <a:off x="6364080" y="295344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0"/>
          <p:cNvSpPr/>
          <p:nvPr/>
        </p:nvSpPr>
        <p:spPr>
          <a:xfrm>
            <a:off x="6364080" y="2953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1"/>
          <p:cNvSpPr/>
          <p:nvPr/>
        </p:nvSpPr>
        <p:spPr>
          <a:xfrm>
            <a:off x="6729840" y="285300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Auto-Claim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Invited Unit → Done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62"/>
          <p:cNvSpPr/>
          <p:nvPr/>
        </p:nvSpPr>
        <p:spPr>
          <a:xfrm>
            <a:off x="6291000" y="3630240"/>
            <a:ext cx="2651400" cy="15084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3"/>
          <p:cNvSpPr/>
          <p:nvPr/>
        </p:nvSpPr>
        <p:spPr>
          <a:xfrm>
            <a:off x="6254640" y="3593520"/>
            <a:ext cx="265140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2" descr="preencoded.png"/>
          <p:cNvPicPr/>
          <p:nvPr/>
        </p:nvPicPr>
        <p:blipFill>
          <a:blip r:embed="rId3"/>
          <a:stretch/>
        </p:blipFill>
        <p:spPr>
          <a:xfrm>
            <a:off x="6291000" y="3630240"/>
            <a:ext cx="2578320" cy="143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64"/>
          <p:cNvSpPr/>
          <p:nvPr/>
        </p:nvSpPr>
        <p:spPr>
          <a:xfrm>
            <a:off x="274320" y="6422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🔐  Invite-code path: one-time 8-char alphanumeric code  •  30-day expiry  •  Single-use token  •  Multiple owners supported per unit via M2M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2: Building &amp; Unit Setup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Admin Configuration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320040" y="868680"/>
            <a:ext cx="4205880" cy="658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320040" y="868680"/>
            <a:ext cx="54360" cy="6580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7"/>
          <p:cNvSpPr/>
          <p:nvPr/>
        </p:nvSpPr>
        <p:spPr>
          <a:xfrm>
            <a:off x="502920" y="10515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502920" y="1051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914400" y="94176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Create Building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914400" y="11797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Name, address, floors, # apartments, # stores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621720" y="1527120"/>
            <a:ext cx="18000" cy="14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320040" y="1673280"/>
            <a:ext cx="4205880" cy="658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320040" y="1673280"/>
            <a:ext cx="54360" cy="6580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502920" y="18561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502920" y="18561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914400" y="174636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Auto-Unit Generation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7"/>
          <p:cNvSpPr/>
          <p:nvPr/>
        </p:nvSpPr>
        <p:spPr>
          <a:xfrm>
            <a:off x="914400" y="19843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System creates A01, A02… &amp; S01, S02… distributed across floors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621720" y="2331720"/>
            <a:ext cx="18000" cy="14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9"/>
          <p:cNvSpPr/>
          <p:nvPr/>
        </p:nvSpPr>
        <p:spPr>
          <a:xfrm>
            <a:off x="320040" y="2477880"/>
            <a:ext cx="4205880" cy="658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320040" y="2477880"/>
            <a:ext cx="54360" cy="6580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502920" y="26607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502920" y="2660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3"/>
          <p:cNvSpPr/>
          <p:nvPr/>
        </p:nvSpPr>
        <p:spPr>
          <a:xfrm>
            <a:off x="914400" y="255132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Assign Co-Admins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4"/>
          <p:cNvSpPr/>
          <p:nvPr/>
        </p:nvSpPr>
        <p:spPr>
          <a:xfrm>
            <a:off x="914400" y="27889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Add additional admin users to share management duties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5"/>
          <p:cNvSpPr/>
          <p:nvPr/>
        </p:nvSpPr>
        <p:spPr>
          <a:xfrm>
            <a:off x="621720" y="3136320"/>
            <a:ext cx="18000" cy="14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320040" y="3282840"/>
            <a:ext cx="4205880" cy="658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7"/>
          <p:cNvSpPr/>
          <p:nvPr/>
        </p:nvSpPr>
        <p:spPr>
          <a:xfrm>
            <a:off x="320040" y="3282840"/>
            <a:ext cx="54360" cy="6580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8"/>
          <p:cNvSpPr/>
          <p:nvPr/>
        </p:nvSpPr>
        <p:spPr>
          <a:xfrm>
            <a:off x="502920" y="346572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9"/>
          <p:cNvSpPr/>
          <p:nvPr/>
        </p:nvSpPr>
        <p:spPr>
          <a:xfrm>
            <a:off x="502920" y="3465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0"/>
          <p:cNvSpPr/>
          <p:nvPr/>
        </p:nvSpPr>
        <p:spPr>
          <a:xfrm>
            <a:off x="914400" y="335592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Invite Owners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1"/>
          <p:cNvSpPr/>
          <p:nvPr/>
        </p:nvSpPr>
        <p:spPr>
          <a:xfrm>
            <a:off x="914400" y="35935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Enter email → system sends invite link + 8-char code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2"/>
          <p:cNvSpPr/>
          <p:nvPr/>
        </p:nvSpPr>
        <p:spPr>
          <a:xfrm>
            <a:off x="621720" y="3940920"/>
            <a:ext cx="18000" cy="14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3"/>
          <p:cNvSpPr/>
          <p:nvPr/>
        </p:nvSpPr>
        <p:spPr>
          <a:xfrm>
            <a:off x="320040" y="4087440"/>
            <a:ext cx="4205880" cy="658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4"/>
          <p:cNvSpPr/>
          <p:nvPr/>
        </p:nvSpPr>
        <p:spPr>
          <a:xfrm>
            <a:off x="320040" y="4087440"/>
            <a:ext cx="54360" cy="6580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5"/>
          <p:cNvSpPr/>
          <p:nvPr/>
        </p:nvSpPr>
        <p:spPr>
          <a:xfrm>
            <a:off x="502920" y="427032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6"/>
          <p:cNvSpPr/>
          <p:nvPr/>
        </p:nvSpPr>
        <p:spPr>
          <a:xfrm>
            <a:off x="502920" y="4270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7"/>
          <p:cNvSpPr/>
          <p:nvPr/>
        </p:nvSpPr>
        <p:spPr>
          <a:xfrm>
            <a:off x="914400" y="416052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Owner Claims Unit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8"/>
          <p:cNvSpPr/>
          <p:nvPr/>
        </p:nvSpPr>
        <p:spPr>
          <a:xfrm>
            <a:off x="914400" y="43981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Via invite link or entering code in dashboard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9"/>
          <p:cNvSpPr/>
          <p:nvPr/>
        </p:nvSpPr>
        <p:spPr>
          <a:xfrm>
            <a:off x="4791600" y="859680"/>
            <a:ext cx="4114440" cy="191988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0"/>
          <p:cNvSpPr/>
          <p:nvPr/>
        </p:nvSpPr>
        <p:spPr>
          <a:xfrm>
            <a:off x="4754880" y="822960"/>
            <a:ext cx="4114440" cy="1919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4791600" y="859680"/>
            <a:ext cx="4041360" cy="184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41"/>
          <p:cNvSpPr/>
          <p:nvPr/>
        </p:nvSpPr>
        <p:spPr>
          <a:xfrm>
            <a:off x="4754880" y="278892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Buildings List — Manage buildings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2"/>
          <p:cNvSpPr/>
          <p:nvPr/>
        </p:nvSpPr>
        <p:spPr>
          <a:xfrm>
            <a:off x="4791600" y="2962800"/>
            <a:ext cx="4114440" cy="20113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3"/>
          <p:cNvSpPr/>
          <p:nvPr/>
        </p:nvSpPr>
        <p:spPr>
          <a:xfrm>
            <a:off x="4754880" y="2926080"/>
            <a:ext cx="4114440" cy="2011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1" descr="preencoded.png"/>
          <p:cNvPicPr/>
          <p:nvPr/>
        </p:nvPicPr>
        <p:blipFill>
          <a:blip r:embed="rId2"/>
          <a:stretch/>
        </p:blipFill>
        <p:spPr>
          <a:xfrm>
            <a:off x="4791600" y="2962800"/>
            <a:ext cx="4041360" cy="193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44"/>
          <p:cNvSpPr/>
          <p:nvPr/>
        </p:nvSpPr>
        <p:spPr>
          <a:xfrm>
            <a:off x="4754880" y="498348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Manage Units Dialog — Invite owners per unit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3: Expense Management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Split Engine &amp; Categories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320040" y="8046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4 Expense Split Types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6"/>
          <p:cNvSpPr/>
          <p:nvPr/>
        </p:nvSpPr>
        <p:spPr>
          <a:xfrm>
            <a:off x="320040" y="1134000"/>
            <a:ext cx="2057040" cy="868320"/>
          </a:xfrm>
          <a:prstGeom prst="rect">
            <a:avLst/>
          </a:prstGeom>
          <a:solidFill>
            <a:srgbClr val="1F6FBF">
              <a:alpha val="10000"/>
            </a:srgbClr>
          </a:solidFill>
          <a:ln w="12700">
            <a:solidFill>
              <a:srgbClr val="1F6FBF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411480" y="117036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Equal — All Units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411480" y="14083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Divided equally across all apartments &amp; stores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9"/>
          <p:cNvSpPr/>
          <p:nvPr/>
        </p:nvSpPr>
        <p:spPr>
          <a:xfrm>
            <a:off x="2514600" y="1134000"/>
            <a:ext cx="2057040" cy="868320"/>
          </a:xfrm>
          <a:prstGeom prst="rect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4A90D9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2606040" y="117036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A90D9"/>
                </a:solidFill>
                <a:effectLst/>
                <a:uFillTx/>
                <a:latin typeface="Calibri"/>
              </a:rPr>
              <a:t>Apartments Only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2606040" y="14083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Only apartment-type units pay this expense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2"/>
          <p:cNvSpPr/>
          <p:nvPr/>
        </p:nvSpPr>
        <p:spPr>
          <a:xfrm>
            <a:off x="4709160" y="1134000"/>
            <a:ext cx="2057040" cy="86832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4800600" y="117036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Stores Only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4800600" y="14083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Only store-type units receive a share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5"/>
          <p:cNvSpPr/>
          <p:nvPr/>
        </p:nvSpPr>
        <p:spPr>
          <a:xfrm>
            <a:off x="6903720" y="1134000"/>
            <a:ext cx="2057040" cy="86832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6"/>
          <p:cNvSpPr/>
          <p:nvPr/>
        </p:nvSpPr>
        <p:spPr>
          <a:xfrm>
            <a:off x="6995160" y="117036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Custom Subset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7"/>
          <p:cNvSpPr/>
          <p:nvPr/>
        </p:nvSpPr>
        <p:spPr>
          <a:xfrm>
            <a:off x="6995160" y="14083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Select specific units &amp; assign decimal weights (e.g. 0.5 = half share)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320040" y="2066400"/>
            <a:ext cx="8503560" cy="310680"/>
          </a:xfrm>
          <a:prstGeom prst="rect">
            <a:avLst/>
          </a:prstGeom>
          <a:solidFill>
            <a:srgbClr val="D97706">
              <a:alpha val="12000"/>
            </a:srgbClr>
          </a:solidFill>
          <a:ln w="1016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457200" y="2066400"/>
            <a:ext cx="832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⚠  Rounding Rule: Every computed share is rounded UP to the nearest 5 EGP  (e.g. 22.01 → 25.00 · 26.00 → 30.00)  Total shares may exceed original expense amount.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0"/>
          <p:cNvSpPr/>
          <p:nvPr/>
        </p:nvSpPr>
        <p:spPr>
          <a:xfrm>
            <a:off x="356760" y="2505600"/>
            <a:ext cx="4160160" cy="25142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1"/>
          <p:cNvSpPr/>
          <p:nvPr/>
        </p:nvSpPr>
        <p:spPr>
          <a:xfrm>
            <a:off x="320040" y="2468880"/>
            <a:ext cx="4160160" cy="2514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preencoded.png"/>
          <p:cNvPicPr/>
          <p:nvPr/>
        </p:nvPicPr>
        <p:blipFill>
          <a:blip r:embed="rId1"/>
          <a:stretch/>
        </p:blipFill>
        <p:spPr>
          <a:xfrm>
            <a:off x="356760" y="2505600"/>
            <a:ext cx="4087080" cy="244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22"/>
          <p:cNvSpPr/>
          <p:nvPr/>
        </p:nvSpPr>
        <p:spPr>
          <a:xfrm>
            <a:off x="320040" y="5029200"/>
            <a:ext cx="4160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Add Expense — Custom Subset split with weights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4700160" y="2505600"/>
            <a:ext cx="4160160" cy="25142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4"/>
          <p:cNvSpPr/>
          <p:nvPr/>
        </p:nvSpPr>
        <p:spPr>
          <a:xfrm>
            <a:off x="4663440" y="2468880"/>
            <a:ext cx="4160160" cy="2514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1" descr="preencoded.png"/>
          <p:cNvPicPr/>
          <p:nvPr/>
        </p:nvPicPr>
        <p:blipFill>
          <a:blip r:embed="rId2"/>
          <a:stretch/>
        </p:blipFill>
        <p:spPr>
          <a:xfrm>
            <a:off x="4700160" y="2505600"/>
            <a:ext cx="4087080" cy="244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25"/>
          <p:cNvSpPr/>
          <p:nvPr/>
        </p:nvSpPr>
        <p:spPr>
          <a:xfrm>
            <a:off x="4663440" y="5029200"/>
            <a:ext cx="4160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Expense Detail — Per-unit share breakdown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4: Payment Recording &amp; Receipts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Immutable Ledger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320040" y="80460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Payment Recording Flow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347400" y="122544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347400" y="1225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749880" y="117036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Admin selects unit + enters amount paid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347400" y="1618560"/>
            <a:ext cx="292320" cy="1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347400" y="171000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347400" y="1710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749880" y="165492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Optionally links to specific expense(s)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347400" y="2103120"/>
            <a:ext cx="292320" cy="1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4"/>
          <p:cNvSpPr/>
          <p:nvPr/>
        </p:nvSpPr>
        <p:spPr>
          <a:xfrm>
            <a:off x="347400" y="21945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347400" y="2194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749880" y="21398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Chooses payment method: Cash / Bank / Cheque / Wallet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347400" y="2587680"/>
            <a:ext cx="292320" cy="1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8"/>
          <p:cNvSpPr/>
          <p:nvPr/>
        </p:nvSpPr>
        <p:spPr>
          <a:xfrm>
            <a:off x="347400" y="267912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347400" y="26791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749880" y="262440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SELECT FOR UPDATE locks apartment row — atomic update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347400" y="3072240"/>
            <a:ext cx="292320" cy="1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>
            <a:off x="347400" y="316368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347400" y="31636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749880" y="310896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balance_before &amp; balance_after snapshots stored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5"/>
          <p:cNvSpPr/>
          <p:nvPr/>
        </p:nvSpPr>
        <p:spPr>
          <a:xfrm>
            <a:off x="347400" y="3557160"/>
            <a:ext cx="292320" cy="1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6"/>
          <p:cNvSpPr/>
          <p:nvPr/>
        </p:nvSpPr>
        <p:spPr>
          <a:xfrm>
            <a:off x="347400" y="364860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347400" y="36486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8"/>
          <p:cNvSpPr/>
          <p:nvPr/>
        </p:nvSpPr>
        <p:spPr>
          <a:xfrm>
            <a:off x="749880" y="359352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Apartment balance decremented — negative = credit/overpayment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9"/>
          <p:cNvSpPr/>
          <p:nvPr/>
        </p:nvSpPr>
        <p:spPr>
          <a:xfrm>
            <a:off x="347400" y="4041720"/>
            <a:ext cx="292320" cy="1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0"/>
          <p:cNvSpPr/>
          <p:nvPr/>
        </p:nvSpPr>
        <p:spPr>
          <a:xfrm>
            <a:off x="347400" y="4133160"/>
            <a:ext cx="292320" cy="2923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347400" y="41331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2"/>
          <p:cNvSpPr/>
          <p:nvPr/>
        </p:nvSpPr>
        <p:spPr>
          <a:xfrm>
            <a:off x="749880" y="407808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PDF receipt generated via WeasyPrint (bilingual)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3"/>
          <p:cNvSpPr/>
          <p:nvPr/>
        </p:nvSpPr>
        <p:spPr>
          <a:xfrm>
            <a:off x="347400" y="4526280"/>
            <a:ext cx="292320" cy="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4"/>
          <p:cNvSpPr/>
          <p:nvPr/>
        </p:nvSpPr>
        <p:spPr>
          <a:xfrm>
            <a:off x="320040" y="461772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Balance States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5"/>
          <p:cNvSpPr/>
          <p:nvPr/>
        </p:nvSpPr>
        <p:spPr>
          <a:xfrm>
            <a:off x="320040" y="4846320"/>
            <a:ext cx="1325520" cy="237240"/>
          </a:xfrm>
          <a:prstGeom prst="rect">
            <a:avLst/>
          </a:prstGeom>
          <a:solidFill>
            <a:srgbClr val="16A34A">
              <a:alpha val="15000"/>
            </a:srgbClr>
          </a:solidFill>
          <a:ln w="1016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6"/>
          <p:cNvSpPr/>
          <p:nvPr/>
        </p:nvSpPr>
        <p:spPr>
          <a:xfrm>
            <a:off x="320040" y="48463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Settled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7"/>
          <p:cNvSpPr/>
          <p:nvPr/>
        </p:nvSpPr>
        <p:spPr>
          <a:xfrm>
            <a:off x="1783080" y="4846320"/>
            <a:ext cx="1325520" cy="237240"/>
          </a:xfrm>
          <a:prstGeom prst="rect">
            <a:avLst/>
          </a:prstGeom>
          <a:solidFill>
            <a:srgbClr val="DC2626">
              <a:alpha val="15000"/>
            </a:srgbClr>
          </a:solidFill>
          <a:ln w="1016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8"/>
          <p:cNvSpPr/>
          <p:nvPr/>
        </p:nvSpPr>
        <p:spPr>
          <a:xfrm>
            <a:off x="1783080" y="48463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Outstanding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9"/>
          <p:cNvSpPr/>
          <p:nvPr/>
        </p:nvSpPr>
        <p:spPr>
          <a:xfrm>
            <a:off x="3246120" y="4846320"/>
            <a:ext cx="1325520" cy="237240"/>
          </a:xfrm>
          <a:prstGeom prst="rect">
            <a:avLst/>
          </a:prstGeom>
          <a:solidFill>
            <a:srgbClr val="2563EB">
              <a:alpha val="15000"/>
            </a:srgbClr>
          </a:solidFill>
          <a:ln w="1016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0"/>
          <p:cNvSpPr/>
          <p:nvPr/>
        </p:nvSpPr>
        <p:spPr>
          <a:xfrm>
            <a:off x="3246120" y="48463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Credit (Overpaid)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1"/>
          <p:cNvSpPr/>
          <p:nvPr/>
        </p:nvSpPr>
        <p:spPr>
          <a:xfrm>
            <a:off x="4791600" y="835200"/>
            <a:ext cx="4114440" cy="144288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42"/>
          <p:cNvSpPr/>
          <p:nvPr/>
        </p:nvSpPr>
        <p:spPr>
          <a:xfrm>
            <a:off x="4754880" y="804600"/>
            <a:ext cx="4114440" cy="144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0" descr="preencoded.png"/>
          <p:cNvPicPr/>
          <p:nvPr/>
        </p:nvPicPr>
        <p:blipFill>
          <a:blip r:embed="rId1"/>
          <a:stretch/>
        </p:blipFill>
        <p:spPr>
          <a:xfrm>
            <a:off x="4791600" y="835200"/>
            <a:ext cx="4041360" cy="138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43"/>
          <p:cNvSpPr/>
          <p:nvPr/>
        </p:nvSpPr>
        <p:spPr>
          <a:xfrm>
            <a:off x="4754880" y="228564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Payments Page — Balance summary per unit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4"/>
          <p:cNvSpPr/>
          <p:nvPr/>
        </p:nvSpPr>
        <p:spPr>
          <a:xfrm>
            <a:off x="4791600" y="2394000"/>
            <a:ext cx="4114440" cy="142488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5"/>
          <p:cNvSpPr/>
          <p:nvPr/>
        </p:nvSpPr>
        <p:spPr>
          <a:xfrm>
            <a:off x="4754880" y="2363760"/>
            <a:ext cx="4114440" cy="142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 1" descr="preencoded.png"/>
          <p:cNvPicPr/>
          <p:nvPr/>
        </p:nvPicPr>
        <p:blipFill>
          <a:blip r:embed="rId2"/>
          <a:stretch/>
        </p:blipFill>
        <p:spPr>
          <a:xfrm>
            <a:off x="4791600" y="2394000"/>
            <a:ext cx="4041360" cy="136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46"/>
          <p:cNvSpPr/>
          <p:nvPr/>
        </p:nvSpPr>
        <p:spPr>
          <a:xfrm>
            <a:off x="4754880" y="382644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Record Payment Dialog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7"/>
          <p:cNvSpPr/>
          <p:nvPr/>
        </p:nvSpPr>
        <p:spPr>
          <a:xfrm>
            <a:off x="4791600" y="3953160"/>
            <a:ext cx="4114440" cy="11318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8"/>
          <p:cNvSpPr/>
          <p:nvPr/>
        </p:nvSpPr>
        <p:spPr>
          <a:xfrm>
            <a:off x="4754880" y="3886200"/>
            <a:ext cx="4114440" cy="113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2" descr="preencoded.png"/>
          <p:cNvPicPr/>
          <p:nvPr/>
        </p:nvPicPr>
        <p:blipFill>
          <a:blip r:embed="rId3"/>
          <a:stretch/>
        </p:blipFill>
        <p:spPr>
          <a:xfrm>
            <a:off x="4791600" y="3953160"/>
            <a:ext cx="4041360" cy="99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49"/>
          <p:cNvSpPr/>
          <p:nvPr/>
        </p:nvSpPr>
        <p:spPr>
          <a:xfrm>
            <a:off x="4754880" y="5101920"/>
            <a:ext cx="4114440" cy="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Auto-generated PDF Receipt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5: Dashboards &amp; Analytics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Real-Time Financial Insights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5"/>
          <p:cNvSpPr/>
          <p:nvPr/>
        </p:nvSpPr>
        <p:spPr>
          <a:xfrm>
            <a:off x="320040" y="804600"/>
            <a:ext cx="4160160" cy="319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457200" y="804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👑  Admin Dashboard</a:t>
            </a:r>
            <a:endParaRPr lang="en-EG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457200" y="1170360"/>
            <a:ext cx="3931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Total Income / Total Expenses cards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Overdue Accounts count (click → Buildings)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Building summary: units, occupied, vacant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Payment Coverage progress bar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Monthly Income vs Expenses bar chart (12 months)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Outstanding Balances sortable table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Filter by building &amp; date range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8"/>
          <p:cNvSpPr/>
          <p:nvPr/>
        </p:nvSpPr>
        <p:spPr>
          <a:xfrm>
            <a:off x="320040" y="2880360"/>
            <a:ext cx="4160160" cy="319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457200" y="28803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🏠  Owner Dashboard</a:t>
            </a:r>
            <a:endParaRPr lang="en-EG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457200" y="3246120"/>
            <a:ext cx="3931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Personal balance summary card (Settled / Owed / Credit)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Recent expenses for own unit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Recent payments list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Expense breakdown pie chart by category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Claim unit section (enter registration code)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Filter by date range + Download Report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1"/>
          <p:cNvSpPr/>
          <p:nvPr/>
        </p:nvSpPr>
        <p:spPr>
          <a:xfrm>
            <a:off x="4700160" y="841320"/>
            <a:ext cx="4160160" cy="41144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2"/>
          <p:cNvSpPr/>
          <p:nvPr/>
        </p:nvSpPr>
        <p:spPr>
          <a:xfrm>
            <a:off x="4663440" y="804600"/>
            <a:ext cx="4160160" cy="411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0" descr="preencoded.png"/>
          <p:cNvPicPr/>
          <p:nvPr/>
        </p:nvPicPr>
        <p:blipFill>
          <a:blip r:embed="rId1"/>
          <a:stretch/>
        </p:blipFill>
        <p:spPr>
          <a:xfrm>
            <a:off x="4700160" y="841320"/>
            <a:ext cx="4087080" cy="404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13"/>
          <p:cNvSpPr/>
          <p:nvPr/>
        </p:nvSpPr>
        <p:spPr>
          <a:xfrm>
            <a:off x="4663440" y="4965120"/>
            <a:ext cx="4160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Admin Dashboard — Full financial overview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6: Notifications &amp; Messaging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In-App Communication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5"/>
          <p:cNvSpPr/>
          <p:nvPr/>
        </p:nvSpPr>
        <p:spPr>
          <a:xfrm>
            <a:off x="320040" y="8046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Notification Triggers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6"/>
          <p:cNvSpPr/>
          <p:nvPr/>
        </p:nvSpPr>
        <p:spPr>
          <a:xfrm>
            <a:off x="320040" y="1170360"/>
            <a:ext cx="219420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320040" y="1170360"/>
            <a:ext cx="54360" cy="5666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8"/>
          <p:cNvSpPr/>
          <p:nvPr/>
        </p:nvSpPr>
        <p:spPr>
          <a:xfrm>
            <a:off x="448200" y="12254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Expense Added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448200" y="14446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Auto-notifies all affected unit owners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0"/>
          <p:cNvSpPr/>
          <p:nvPr/>
        </p:nvSpPr>
        <p:spPr>
          <a:xfrm>
            <a:off x="2651760" y="1170360"/>
            <a:ext cx="219420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2651760" y="1170360"/>
            <a:ext cx="54360" cy="566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2"/>
          <p:cNvSpPr/>
          <p:nvPr/>
        </p:nvSpPr>
        <p:spPr>
          <a:xfrm>
            <a:off x="2779920" y="12254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Payment Confirmed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2779920" y="14446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Notifies owner on payment recording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320040" y="1856160"/>
            <a:ext cx="219420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5"/>
          <p:cNvSpPr/>
          <p:nvPr/>
        </p:nvSpPr>
        <p:spPr>
          <a:xfrm>
            <a:off x="320040" y="1856160"/>
            <a:ext cx="54360" cy="566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6"/>
          <p:cNvSpPr/>
          <p:nvPr/>
        </p:nvSpPr>
        <p:spPr>
          <a:xfrm>
            <a:off x="448200" y="19112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Payment Due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7"/>
          <p:cNvSpPr/>
          <p:nvPr/>
        </p:nvSpPr>
        <p:spPr>
          <a:xfrm>
            <a:off x="448200" y="21304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Scheduled 3 days before due date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8"/>
          <p:cNvSpPr/>
          <p:nvPr/>
        </p:nvSpPr>
        <p:spPr>
          <a:xfrm>
            <a:off x="2651760" y="1856160"/>
            <a:ext cx="219420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9"/>
          <p:cNvSpPr/>
          <p:nvPr/>
        </p:nvSpPr>
        <p:spPr>
          <a:xfrm>
            <a:off x="2651760" y="1856160"/>
            <a:ext cx="54360" cy="566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0"/>
          <p:cNvSpPr/>
          <p:nvPr/>
        </p:nvSpPr>
        <p:spPr>
          <a:xfrm>
            <a:off x="2779920" y="19112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Payment Overdue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2779920" y="21304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Day after missed due date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2"/>
          <p:cNvSpPr/>
          <p:nvPr/>
        </p:nvSpPr>
        <p:spPr>
          <a:xfrm>
            <a:off x="320040" y="2541960"/>
            <a:ext cx="219420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3"/>
          <p:cNvSpPr/>
          <p:nvPr/>
        </p:nvSpPr>
        <p:spPr>
          <a:xfrm>
            <a:off x="320040" y="2541960"/>
            <a:ext cx="54360" cy="566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4"/>
          <p:cNvSpPr/>
          <p:nvPr/>
        </p:nvSpPr>
        <p:spPr>
          <a:xfrm>
            <a:off x="448200" y="25970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Announcement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5"/>
          <p:cNvSpPr/>
          <p:nvPr/>
        </p:nvSpPr>
        <p:spPr>
          <a:xfrm>
            <a:off x="448200" y="28162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Admin broadcast to all building owners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6"/>
          <p:cNvSpPr/>
          <p:nvPr/>
        </p:nvSpPr>
        <p:spPr>
          <a:xfrm>
            <a:off x="2651760" y="2541960"/>
            <a:ext cx="219420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38160" dir="8100000" dist="12218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7"/>
          <p:cNvSpPr/>
          <p:nvPr/>
        </p:nvSpPr>
        <p:spPr>
          <a:xfrm>
            <a:off x="2651760" y="2541960"/>
            <a:ext cx="54360" cy="566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8"/>
          <p:cNvSpPr/>
          <p:nvPr/>
        </p:nvSpPr>
        <p:spPr>
          <a:xfrm>
            <a:off x="2779920" y="25970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Direct Message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9"/>
          <p:cNvSpPr/>
          <p:nvPr/>
        </p:nvSpPr>
        <p:spPr>
          <a:xfrm>
            <a:off x="2779920" y="28162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All / Admins / Owners / Specific person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0"/>
          <p:cNvSpPr/>
          <p:nvPr/>
        </p:nvSpPr>
        <p:spPr>
          <a:xfrm>
            <a:off x="320040" y="3657600"/>
            <a:ext cx="4525920" cy="502560"/>
          </a:xfrm>
          <a:prstGeom prst="rect">
            <a:avLst/>
          </a:prstGeom>
          <a:solidFill>
            <a:srgbClr val="E8F0F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1"/>
          <p:cNvSpPr/>
          <p:nvPr/>
        </p:nvSpPr>
        <p:spPr>
          <a:xfrm>
            <a:off x="457200" y="3703320"/>
            <a:ext cx="4251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Messaging Restrictions  (Admin-controlled)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2"/>
          <p:cNvSpPr/>
          <p:nvPr/>
        </p:nvSpPr>
        <p:spPr>
          <a:xfrm>
            <a:off x="457200" y="3886200"/>
            <a:ext cx="425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messaging_blocked → user cannot send any messages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individual_messaging_blocked → direct messages blocked only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3"/>
          <p:cNvSpPr/>
          <p:nvPr/>
        </p:nvSpPr>
        <p:spPr>
          <a:xfrm>
            <a:off x="320040" y="4251960"/>
            <a:ext cx="4525920" cy="502560"/>
          </a:xfrm>
          <a:prstGeom prst="rect">
            <a:avLst/>
          </a:prstGeom>
          <a:solidFill>
            <a:srgbClr val="E8F0F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4"/>
          <p:cNvSpPr/>
          <p:nvPr/>
        </p:nvSpPr>
        <p:spPr>
          <a:xfrm>
            <a:off x="457200" y="4297680"/>
            <a:ext cx="4251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Notification Center Layout  (Accordion Panels)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5"/>
          <p:cNvSpPr/>
          <p:nvPr/>
        </p:nvSpPr>
        <p:spPr>
          <a:xfrm>
            <a:off x="457200" y="4480560"/>
            <a:ext cx="425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Send Message (indigo)  •  Broadcast Announcement (amber, admin only)  •  Your Notifications (green)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36"/>
          <p:cNvSpPr/>
          <p:nvPr/>
        </p:nvSpPr>
        <p:spPr>
          <a:xfrm>
            <a:off x="5065920" y="841320"/>
            <a:ext cx="3840120" cy="41601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7"/>
          <p:cNvSpPr/>
          <p:nvPr/>
        </p:nvSpPr>
        <p:spPr>
          <a:xfrm>
            <a:off x="5029200" y="804600"/>
            <a:ext cx="3840120" cy="416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0" descr="preencoded.png"/>
          <p:cNvPicPr/>
          <p:nvPr/>
        </p:nvPicPr>
        <p:blipFill>
          <a:blip r:embed="rId1"/>
          <a:stretch/>
        </p:blipFill>
        <p:spPr>
          <a:xfrm>
            <a:off x="5065920" y="841320"/>
            <a:ext cx="3767040" cy="408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 38"/>
          <p:cNvSpPr/>
          <p:nvPr/>
        </p:nvSpPr>
        <p:spPr>
          <a:xfrm>
            <a:off x="5029200" y="5010840"/>
            <a:ext cx="38401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Notification Center — Send, Broadcast &amp; Inbox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7: User Management &amp; Categories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Admin Configuration Tools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320040" y="80460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User Management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320040" y="1152000"/>
            <a:ext cx="202968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320040" y="1152000"/>
            <a:ext cx="54360" cy="13712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448200" y="1243440"/>
            <a:ext cx="1846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Admin Creates User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448200" y="1499760"/>
            <a:ext cx="1846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Set role (Admin or Owner)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Assign to building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Assign to specific unit(s)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Set initial password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2468880" y="1152000"/>
            <a:ext cx="202968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>
            <a:off x="2468880" y="1152000"/>
            <a:ext cx="54360" cy="1371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2597040" y="1243440"/>
            <a:ext cx="1846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User Lifecycle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3"/>
          <p:cNvSpPr/>
          <p:nvPr/>
        </p:nvSpPr>
        <p:spPr>
          <a:xfrm>
            <a:off x="2597040" y="1499760"/>
            <a:ext cx="1846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Activate / Deactivate accounts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Reset password (admin-initiated)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Forced password change on next login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Account lockout after 5 failures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356760" y="2688480"/>
            <a:ext cx="4160160" cy="22856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320040" y="2651760"/>
            <a:ext cx="4160160" cy="2285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0" descr="preencoded.png"/>
          <p:cNvPicPr/>
          <p:nvPr/>
        </p:nvPicPr>
        <p:blipFill>
          <a:blip r:embed="rId1"/>
          <a:stretch/>
        </p:blipFill>
        <p:spPr>
          <a:xfrm>
            <a:off x="356760" y="2688480"/>
            <a:ext cx="4087080" cy="221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16"/>
          <p:cNvSpPr/>
          <p:nvPr/>
        </p:nvSpPr>
        <p:spPr>
          <a:xfrm>
            <a:off x="320040" y="4983480"/>
            <a:ext cx="4160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User Management — Create user with role &amp; unit assignment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7"/>
          <p:cNvSpPr/>
          <p:nvPr/>
        </p:nvSpPr>
        <p:spPr>
          <a:xfrm>
            <a:off x="4754880" y="80460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Expense Categories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8"/>
          <p:cNvSpPr/>
          <p:nvPr/>
        </p:nvSpPr>
        <p:spPr>
          <a:xfrm>
            <a:off x="4754880" y="1152000"/>
            <a:ext cx="4160160" cy="749520"/>
          </a:xfrm>
          <a:prstGeom prst="rect">
            <a:avLst/>
          </a:prstGeom>
          <a:solidFill>
            <a:srgbClr val="E8F0F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9"/>
          <p:cNvSpPr/>
          <p:nvPr/>
        </p:nvSpPr>
        <p:spPr>
          <a:xfrm>
            <a:off x="4892040" y="11887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15 Default Categories auto-created per building: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0"/>
          <p:cNvSpPr/>
          <p:nvPr/>
        </p:nvSpPr>
        <p:spPr>
          <a:xfrm>
            <a:off x="4892040" y="137160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Maintenance · Utilities · Cleaning · Security · Elevator · Plumbing · Internet &amp; Cable · Parking · Landscaping · Pest Control · Fire Safety · Waste Management · Insurance · Management · Other</a:t>
            </a:r>
            <a:endParaRPr lang="en-EG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1"/>
          <p:cNvSpPr/>
          <p:nvPr/>
        </p:nvSpPr>
        <p:spPr>
          <a:xfrm>
            <a:off x="4754880" y="1993320"/>
            <a:ext cx="4160160" cy="1279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2"/>
          <p:cNvSpPr/>
          <p:nvPr/>
        </p:nvSpPr>
        <p:spPr>
          <a:xfrm>
            <a:off x="4754880" y="1993320"/>
            <a:ext cx="54360" cy="1279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3"/>
          <p:cNvSpPr/>
          <p:nvPr/>
        </p:nvSpPr>
        <p:spPr>
          <a:xfrm>
            <a:off x="4883040" y="208476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Fully Configurable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4"/>
          <p:cNvSpPr/>
          <p:nvPr/>
        </p:nvSpPr>
        <p:spPr>
          <a:xfrm>
            <a:off x="4883040" y="2340720"/>
            <a:ext cx="3977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Per-building (not global)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Custom icon (Material icon name)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Custom hex color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Parent/subcategory — one level deep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5"/>
          <p:cNvSpPr/>
          <p:nvPr/>
        </p:nvSpPr>
        <p:spPr>
          <a:xfrm>
            <a:off x="4791600" y="3438000"/>
            <a:ext cx="4160160" cy="15357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6"/>
          <p:cNvSpPr/>
          <p:nvPr/>
        </p:nvSpPr>
        <p:spPr>
          <a:xfrm>
            <a:off x="4754880" y="3401640"/>
            <a:ext cx="4160160" cy="153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9" name="Image 1" descr="preencoded.png"/>
          <p:cNvPicPr/>
          <p:nvPr/>
        </p:nvPicPr>
        <p:blipFill>
          <a:blip r:embed="rId2"/>
          <a:stretch/>
        </p:blipFill>
        <p:spPr>
          <a:xfrm>
            <a:off x="4791600" y="3438000"/>
            <a:ext cx="408708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 27"/>
          <p:cNvSpPr/>
          <p:nvPr/>
        </p:nvSpPr>
        <p:spPr>
          <a:xfrm>
            <a:off x="4754880" y="4983480"/>
            <a:ext cx="4160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Expense Categories — 15 defaults with icon &amp; color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8: Building Assets &amp; User Profile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Asset Register &amp; Account Settings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5"/>
          <p:cNvSpPr/>
          <p:nvPr/>
        </p:nvSpPr>
        <p:spPr>
          <a:xfrm>
            <a:off x="320040" y="80460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Building Asset Management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6"/>
          <p:cNvSpPr/>
          <p:nvPr/>
        </p:nvSpPr>
        <p:spPr>
          <a:xfrm>
            <a:off x="320040" y="1152000"/>
            <a:ext cx="41601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7"/>
          <p:cNvSpPr/>
          <p:nvPr/>
        </p:nvSpPr>
        <p:spPr>
          <a:xfrm>
            <a:off x="320040" y="1152000"/>
            <a:ext cx="54360" cy="10054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8"/>
          <p:cNvSpPr/>
          <p:nvPr/>
        </p:nvSpPr>
        <p:spPr>
          <a:xfrm>
            <a:off x="448200" y="124344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Asset Register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9"/>
          <p:cNvSpPr/>
          <p:nvPr/>
        </p:nvSpPr>
        <p:spPr>
          <a:xfrm>
            <a:off x="448200" y="149976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Name, type (Vehicle, Equipment, Furniture, Electronics, Property, Other)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Acquisition date &amp; value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Status: Active or Sold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0"/>
          <p:cNvSpPr/>
          <p:nvPr/>
        </p:nvSpPr>
        <p:spPr>
          <a:xfrm>
            <a:off x="320040" y="2240280"/>
            <a:ext cx="41601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1"/>
          <p:cNvSpPr/>
          <p:nvPr/>
        </p:nvSpPr>
        <p:spPr>
          <a:xfrm>
            <a:off x="320040" y="2240280"/>
            <a:ext cx="54360" cy="1005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2"/>
          <p:cNvSpPr/>
          <p:nvPr/>
        </p:nvSpPr>
        <p:spPr>
          <a:xfrm>
            <a:off x="448200" y="23317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Record Sale (Immutable)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3"/>
          <p:cNvSpPr/>
          <p:nvPr/>
        </p:nvSpPr>
        <p:spPr>
          <a:xfrm>
            <a:off x="448200" y="258768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Sale date, price, buyer name &amp; contact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is_sold = True after recording — cannot be reversed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Summary: Total Sale Proceeds + Total Assets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4"/>
          <p:cNvSpPr/>
          <p:nvPr/>
        </p:nvSpPr>
        <p:spPr>
          <a:xfrm>
            <a:off x="356760" y="3374280"/>
            <a:ext cx="2011320" cy="15998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5"/>
          <p:cNvSpPr/>
          <p:nvPr/>
        </p:nvSpPr>
        <p:spPr>
          <a:xfrm>
            <a:off x="320040" y="3337560"/>
            <a:ext cx="201132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Image 0" descr="preencoded.png"/>
          <p:cNvPicPr/>
          <p:nvPr/>
        </p:nvPicPr>
        <p:blipFill>
          <a:blip r:embed="rId1"/>
          <a:stretch/>
        </p:blipFill>
        <p:spPr>
          <a:xfrm>
            <a:off x="356760" y="3374280"/>
            <a:ext cx="1938240" cy="152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 16"/>
          <p:cNvSpPr/>
          <p:nvPr/>
        </p:nvSpPr>
        <p:spPr>
          <a:xfrm>
            <a:off x="320040" y="4983480"/>
            <a:ext cx="2011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Add Asset Dialog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7"/>
          <p:cNvSpPr/>
          <p:nvPr/>
        </p:nvSpPr>
        <p:spPr>
          <a:xfrm>
            <a:off x="2505600" y="3374280"/>
            <a:ext cx="2011320" cy="15998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8"/>
          <p:cNvSpPr/>
          <p:nvPr/>
        </p:nvSpPr>
        <p:spPr>
          <a:xfrm>
            <a:off x="2468880" y="3337560"/>
            <a:ext cx="201132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preencoded.png"/>
          <p:cNvPicPr/>
          <p:nvPr/>
        </p:nvPicPr>
        <p:blipFill>
          <a:blip r:embed="rId2"/>
          <a:stretch/>
        </p:blipFill>
        <p:spPr>
          <a:xfrm>
            <a:off x="2505600" y="3374280"/>
            <a:ext cx="1938240" cy="152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19"/>
          <p:cNvSpPr/>
          <p:nvPr/>
        </p:nvSpPr>
        <p:spPr>
          <a:xfrm>
            <a:off x="2468880" y="4983480"/>
            <a:ext cx="2011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Record Sale Dialog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0"/>
          <p:cNvSpPr/>
          <p:nvPr/>
        </p:nvSpPr>
        <p:spPr>
          <a:xfrm>
            <a:off x="4754880" y="80460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User Profile &amp; Settings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21"/>
          <p:cNvSpPr/>
          <p:nvPr/>
        </p:nvSpPr>
        <p:spPr>
          <a:xfrm>
            <a:off x="4754880" y="1152000"/>
            <a:ext cx="4160160" cy="914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2"/>
          <p:cNvSpPr/>
          <p:nvPr/>
        </p:nvSpPr>
        <p:spPr>
          <a:xfrm>
            <a:off x="4754880" y="1152000"/>
            <a:ext cx="54360" cy="914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4883040" y="124344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Profile Management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4"/>
          <p:cNvSpPr/>
          <p:nvPr/>
        </p:nvSpPr>
        <p:spPr>
          <a:xfrm>
            <a:off x="4883040" y="149976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Update name, phone number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Profile picture upload (JPG/PNG/WEBP, max 5 MB)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Stored in Cloudinary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5"/>
          <p:cNvSpPr/>
          <p:nvPr/>
        </p:nvSpPr>
        <p:spPr>
          <a:xfrm>
            <a:off x="4754880" y="2157840"/>
            <a:ext cx="416016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26"/>
          <p:cNvSpPr/>
          <p:nvPr/>
        </p:nvSpPr>
        <p:spPr>
          <a:xfrm>
            <a:off x="4754880" y="2157840"/>
            <a:ext cx="54360" cy="1188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7"/>
          <p:cNvSpPr/>
          <p:nvPr/>
        </p:nvSpPr>
        <p:spPr>
          <a:xfrm>
            <a:off x="4883040" y="22492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Language &amp; Security</a:t>
            </a:r>
            <a:endParaRPr lang="en-EG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8"/>
          <p:cNvSpPr/>
          <p:nvPr/>
        </p:nvSpPr>
        <p:spPr>
          <a:xfrm>
            <a:off x="4883040" y="250560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Language preference: English / Arabic (persisted to DB)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Syncs across all devices via usePreferredLanguage hook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Change password (requires current password confirmation)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Session expiry warning 30s before token expiry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9"/>
          <p:cNvSpPr/>
          <p:nvPr/>
        </p:nvSpPr>
        <p:spPr>
          <a:xfrm>
            <a:off x="4791600" y="3465720"/>
            <a:ext cx="4160160" cy="15084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30"/>
          <p:cNvSpPr/>
          <p:nvPr/>
        </p:nvSpPr>
        <p:spPr>
          <a:xfrm>
            <a:off x="4754880" y="3429000"/>
            <a:ext cx="416016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4" name="Image 2" descr="preencoded.png"/>
          <p:cNvPicPr/>
          <p:nvPr/>
        </p:nvPicPr>
        <p:blipFill>
          <a:blip r:embed="rId3"/>
          <a:stretch/>
        </p:blipFill>
        <p:spPr>
          <a:xfrm>
            <a:off x="4791600" y="3465720"/>
            <a:ext cx="4087080" cy="143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31"/>
          <p:cNvSpPr/>
          <p:nvPr/>
        </p:nvSpPr>
        <p:spPr>
          <a:xfrm>
            <a:off x="4754880" y="4983480"/>
            <a:ext cx="4160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My Profile — Personal info, language &amp; password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Security Architecture &amp; Audit Trail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Enterprise-Grade Protection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320040" y="804600"/>
            <a:ext cx="8503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Security Layers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6"/>
          <p:cNvSpPr/>
          <p:nvPr/>
        </p:nvSpPr>
        <p:spPr>
          <a:xfrm>
            <a:off x="320040" y="117036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>
            <a:off x="320040" y="1170360"/>
            <a:ext cx="2029680" cy="347040"/>
          </a:xfrm>
          <a:prstGeom prst="rect">
            <a:avLst/>
          </a:prstGeom>
          <a:solidFill>
            <a:srgbClr val="1F6FBF">
              <a:alpha val="12000"/>
            </a:srgbClr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8"/>
          <p:cNvSpPr/>
          <p:nvPr/>
        </p:nvSpPr>
        <p:spPr>
          <a:xfrm>
            <a:off x="411480" y="1207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🔑  JWT HS256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9"/>
          <p:cNvSpPr/>
          <p:nvPr/>
        </p:nvSpPr>
        <p:spPr>
          <a:xfrm>
            <a:off x="411480" y="1563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15-min access + 7-day refresh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Blacklist on logout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>
            <a:off x="2496240" y="117036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1"/>
          <p:cNvSpPr/>
          <p:nvPr/>
        </p:nvSpPr>
        <p:spPr>
          <a:xfrm>
            <a:off x="2496240" y="1170360"/>
            <a:ext cx="2029680" cy="347040"/>
          </a:xfrm>
          <a:prstGeom prst="rect">
            <a:avLst/>
          </a:prstGeom>
          <a:solidFill>
            <a:srgbClr val="1A3A5C">
              <a:alpha val="12000"/>
            </a:srgbClr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2"/>
          <p:cNvSpPr/>
          <p:nvPr/>
        </p:nvSpPr>
        <p:spPr>
          <a:xfrm>
            <a:off x="2587680" y="1207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🛡️  RBAC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3"/>
          <p:cNvSpPr/>
          <p:nvPr/>
        </p:nvSpPr>
        <p:spPr>
          <a:xfrm>
            <a:off x="2587680" y="1563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IsAdminRole / IsAuthenticated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Enforced at API layer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4"/>
          <p:cNvSpPr/>
          <p:nvPr/>
        </p:nvSpPr>
        <p:spPr>
          <a:xfrm>
            <a:off x="4672440" y="117036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5"/>
          <p:cNvSpPr/>
          <p:nvPr/>
        </p:nvSpPr>
        <p:spPr>
          <a:xfrm>
            <a:off x="4672440" y="1170360"/>
            <a:ext cx="2029680" cy="347040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6"/>
          <p:cNvSpPr/>
          <p:nvPr/>
        </p:nvSpPr>
        <p:spPr>
          <a:xfrm>
            <a:off x="4763880" y="1207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🔒  Account Lockout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7"/>
          <p:cNvSpPr/>
          <p:nvPr/>
        </p:nvSpPr>
        <p:spPr>
          <a:xfrm>
            <a:off x="4763880" y="1563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5 failed attempts → HTTP 423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Configurable cooldown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8"/>
          <p:cNvSpPr/>
          <p:nvPr/>
        </p:nvSpPr>
        <p:spPr>
          <a:xfrm>
            <a:off x="6849000" y="117036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9"/>
          <p:cNvSpPr/>
          <p:nvPr/>
        </p:nvSpPr>
        <p:spPr>
          <a:xfrm>
            <a:off x="6849000" y="1170360"/>
            <a:ext cx="2029680" cy="3470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0"/>
          <p:cNvSpPr/>
          <p:nvPr/>
        </p:nvSpPr>
        <p:spPr>
          <a:xfrm>
            <a:off x="6940440" y="1207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🏢  Multi-Tenant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1"/>
          <p:cNvSpPr/>
          <p:nvPr/>
        </p:nvSpPr>
        <p:spPr>
          <a:xfrm>
            <a:off x="6940440" y="1563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Isolation via UserBuilding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No cross-tenant data leaks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2"/>
          <p:cNvSpPr/>
          <p:nvPr/>
        </p:nvSpPr>
        <p:spPr>
          <a:xfrm>
            <a:off x="320040" y="240480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3"/>
          <p:cNvSpPr/>
          <p:nvPr/>
        </p:nvSpPr>
        <p:spPr>
          <a:xfrm>
            <a:off x="320040" y="2404800"/>
            <a:ext cx="2029680" cy="34704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4"/>
          <p:cNvSpPr/>
          <p:nvPr/>
        </p:nvSpPr>
        <p:spPr>
          <a:xfrm>
            <a:off x="411480" y="2441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⚡  Atomic Payments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5"/>
          <p:cNvSpPr/>
          <p:nvPr/>
        </p:nvSpPr>
        <p:spPr>
          <a:xfrm>
            <a:off x="411480" y="279792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SELECT FOR UPDATE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Race condition prevention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6"/>
          <p:cNvSpPr/>
          <p:nvPr/>
        </p:nvSpPr>
        <p:spPr>
          <a:xfrm>
            <a:off x="2496240" y="240480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7"/>
          <p:cNvSpPr/>
          <p:nvPr/>
        </p:nvSpPr>
        <p:spPr>
          <a:xfrm>
            <a:off x="2496240" y="2404800"/>
            <a:ext cx="2029680" cy="34704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8"/>
          <p:cNvSpPr/>
          <p:nvPr/>
        </p:nvSpPr>
        <p:spPr>
          <a:xfrm>
            <a:off x="2587680" y="2441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🔐  OWASP Top 10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9"/>
          <p:cNvSpPr/>
          <p:nvPr/>
        </p:nvSpPr>
        <p:spPr>
          <a:xfrm>
            <a:off x="2587680" y="279792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SQL injection via ORM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XSS via React escaping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File type whitelist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0"/>
          <p:cNvSpPr/>
          <p:nvPr/>
        </p:nvSpPr>
        <p:spPr>
          <a:xfrm>
            <a:off x="4672440" y="240480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31"/>
          <p:cNvSpPr/>
          <p:nvPr/>
        </p:nvSpPr>
        <p:spPr>
          <a:xfrm>
            <a:off x="4672440" y="2404800"/>
            <a:ext cx="2029680" cy="347040"/>
          </a:xfrm>
          <a:prstGeom prst="rect">
            <a:avLst/>
          </a:prstGeom>
          <a:solidFill>
            <a:srgbClr val="1F6FBF">
              <a:alpha val="12000"/>
            </a:srgbClr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2"/>
          <p:cNvSpPr/>
          <p:nvPr/>
        </p:nvSpPr>
        <p:spPr>
          <a:xfrm>
            <a:off x="4763880" y="2441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F6FBF"/>
                </a:solidFill>
                <a:effectLst/>
                <a:uFillTx/>
                <a:latin typeface="Calibri"/>
              </a:rPr>
              <a:t>🌐  HTTPS / TLS 1.2+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3"/>
          <p:cNvSpPr/>
          <p:nvPr/>
        </p:nvSpPr>
        <p:spPr>
          <a:xfrm>
            <a:off x="4763880" y="279792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PBKDF2 password hashing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CORS configured origins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Secrets in env vars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34"/>
          <p:cNvSpPr/>
          <p:nvPr/>
        </p:nvSpPr>
        <p:spPr>
          <a:xfrm>
            <a:off x="6849000" y="2404800"/>
            <a:ext cx="2029680" cy="1078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5"/>
          <p:cNvSpPr/>
          <p:nvPr/>
        </p:nvSpPr>
        <p:spPr>
          <a:xfrm>
            <a:off x="6849000" y="2404800"/>
            <a:ext cx="2029680" cy="347040"/>
          </a:xfrm>
          <a:prstGeom prst="rect">
            <a:avLst/>
          </a:prstGeom>
          <a:solidFill>
            <a:srgbClr val="1A3A5C">
              <a:alpha val="12000"/>
            </a:srgbClr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6"/>
          <p:cNvSpPr/>
          <p:nvPr/>
        </p:nvSpPr>
        <p:spPr>
          <a:xfrm>
            <a:off x="6940440" y="2441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3A5C"/>
                </a:solidFill>
                <a:effectLst/>
                <a:uFillTx/>
                <a:latin typeface="Calibri"/>
              </a:rPr>
              <a:t>⏱️  Rate Limiting</a:t>
            </a:r>
            <a:endParaRPr lang="en-EG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7"/>
          <p:cNvSpPr/>
          <p:nvPr/>
        </p:nvSpPr>
        <p:spPr>
          <a:xfrm>
            <a:off x="6940440" y="279792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django-ratelimit on auth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429 after threshold exceeded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8"/>
          <p:cNvSpPr/>
          <p:nvPr/>
        </p:nvSpPr>
        <p:spPr>
          <a:xfrm>
            <a:off x="320040" y="3730680"/>
            <a:ext cx="8503560" cy="347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9"/>
          <p:cNvSpPr/>
          <p:nvPr/>
        </p:nvSpPr>
        <p:spPr>
          <a:xfrm>
            <a:off x="457200" y="373068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📋  Audit Log — Every Write Operation Recorded</a:t>
            </a:r>
            <a:endParaRPr lang="en-EG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0"/>
          <p:cNvSpPr/>
          <p:nvPr/>
        </p:nvSpPr>
        <p:spPr>
          <a:xfrm>
            <a:off x="457200" y="4133160"/>
            <a:ext cx="8320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Fields captured: acting user · action label · entity type · entity UUID · before/after JSON diff · IP address · user agent · timestamp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1"/>
          <p:cNvSpPr/>
          <p:nvPr/>
        </p:nvSpPr>
        <p:spPr>
          <a:xfrm>
            <a:off x="457200" y="4352400"/>
            <a:ext cx="8320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create  •  update  •  delete  •  login  •  logout  •  lockout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2"/>
          <p:cNvSpPr/>
          <p:nvPr/>
        </p:nvSpPr>
        <p:spPr>
          <a:xfrm>
            <a:off x="457200" y="4553640"/>
            <a:ext cx="8320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activate  •  deactivate  •  reset_password  •  expense.marked_paid  •  payment.recorded  •  user.buildings_assigned</a:t>
            </a:r>
            <a:endParaRPr lang="en-EG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"/>
          <p:cNvSpPr/>
          <p:nvPr/>
        </p:nvSpPr>
        <p:spPr>
          <a:xfrm>
            <a:off x="228600" y="164520"/>
            <a:ext cx="347040" cy="347040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"/>
          <p:cNvSpPr/>
          <p:nvPr/>
        </p:nvSpPr>
        <p:spPr>
          <a:xfrm>
            <a:off x="228600" y="164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EG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Technology Stack</a:t>
            </a:r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"/>
          <p:cNvSpPr/>
          <p:nvPr/>
        </p:nvSpPr>
        <p:spPr>
          <a:xfrm>
            <a:off x="685800" y="73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CEF5"/>
                </a:solidFill>
                <a:effectLst/>
                <a:uFillTx/>
                <a:latin typeface="Calibri"/>
              </a:rPr>
              <a:t>Full-Stack Reference</a:t>
            </a:r>
            <a:endParaRPr lang="en-EG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5"/>
          <p:cNvSpPr/>
          <p:nvPr/>
        </p:nvSpPr>
        <p:spPr>
          <a:xfrm>
            <a:off x="320040" y="804600"/>
            <a:ext cx="2029680" cy="411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6"/>
          <p:cNvSpPr/>
          <p:nvPr/>
        </p:nvSpPr>
        <p:spPr>
          <a:xfrm>
            <a:off x="320040" y="804600"/>
            <a:ext cx="2029680" cy="4111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"/>
          <p:cNvSpPr/>
          <p:nvPr/>
        </p:nvSpPr>
        <p:spPr>
          <a:xfrm>
            <a:off x="411480" y="80460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8"/>
          <p:cNvSpPr/>
          <p:nvPr/>
        </p:nvSpPr>
        <p:spPr>
          <a:xfrm>
            <a:off x="429840" y="1280160"/>
            <a:ext cx="18100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React 18 + Vite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Material-UI v5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Zustand (state)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React Router v6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Axios + AbortController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i18next (14 namespaces)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stylis-plugin-rtl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9"/>
          <p:cNvSpPr/>
          <p:nvPr/>
        </p:nvSpPr>
        <p:spPr>
          <a:xfrm>
            <a:off x="2496240" y="804600"/>
            <a:ext cx="2029680" cy="411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0"/>
          <p:cNvSpPr/>
          <p:nvPr/>
        </p:nvSpPr>
        <p:spPr>
          <a:xfrm>
            <a:off x="2496240" y="804600"/>
            <a:ext cx="2029680" cy="41112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1"/>
          <p:cNvSpPr/>
          <p:nvPr/>
        </p:nvSpPr>
        <p:spPr>
          <a:xfrm>
            <a:off x="2587680" y="80460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Backend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2"/>
          <p:cNvSpPr/>
          <p:nvPr/>
        </p:nvSpPr>
        <p:spPr>
          <a:xfrm>
            <a:off x="2606040" y="1280160"/>
            <a:ext cx="18100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Django 4.2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Django REST Framework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SimpleJWT auth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drf-spectacular (OpenAPI)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Celery + Celery Beat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Redis 7 (broker)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WeasyPrint (PDF)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3"/>
          <p:cNvSpPr/>
          <p:nvPr/>
        </p:nvSpPr>
        <p:spPr>
          <a:xfrm>
            <a:off x="4672440" y="804600"/>
            <a:ext cx="2029680" cy="411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4"/>
          <p:cNvSpPr/>
          <p:nvPr/>
        </p:nvSpPr>
        <p:spPr>
          <a:xfrm>
            <a:off x="4672440" y="804600"/>
            <a:ext cx="2029680" cy="411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5"/>
          <p:cNvSpPr/>
          <p:nvPr/>
        </p:nvSpPr>
        <p:spPr>
          <a:xfrm>
            <a:off x="4763880" y="80460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Database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6"/>
          <p:cNvSpPr/>
          <p:nvPr/>
        </p:nvSpPr>
        <p:spPr>
          <a:xfrm>
            <a:off x="4782240" y="1280160"/>
            <a:ext cx="18100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PostgreSQL 16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DECIMAL(10,2) for money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UUID primary keys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Soft-delete pattern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SELECT FOR UPDATE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Targeted DB indexes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Append-only audit logs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7"/>
          <p:cNvSpPr/>
          <p:nvPr/>
        </p:nvSpPr>
        <p:spPr>
          <a:xfrm>
            <a:off x="6849000" y="804600"/>
            <a:ext cx="2029680" cy="411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8"/>
          <p:cNvSpPr/>
          <p:nvPr/>
        </p:nvSpPr>
        <p:spPr>
          <a:xfrm>
            <a:off x="6849000" y="804600"/>
            <a:ext cx="2029680" cy="411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9"/>
          <p:cNvSpPr/>
          <p:nvPr/>
        </p:nvSpPr>
        <p:spPr>
          <a:xfrm>
            <a:off x="6940440" y="80460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Infrastructure</a:t>
            </a:r>
            <a:endParaRPr lang="en-EG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0"/>
          <p:cNvSpPr/>
          <p:nvPr/>
        </p:nvSpPr>
        <p:spPr>
          <a:xfrm>
            <a:off x="6958440" y="1280160"/>
            <a:ext cx="18100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Docker + Docker Compose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Cloudinary (media)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GZip compression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WhiteNoise (static)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GitHub Actions CI/CD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ESLint v9 flat config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Playwright 300+ tests</a:t>
            </a:r>
            <a:endParaRPr lang="en-EG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1"/>
          <p:cNvSpPr/>
          <p:nvPr/>
        </p:nvSpPr>
        <p:spPr>
          <a:xfrm>
            <a:off x="320040" y="4892040"/>
            <a:ext cx="8503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en-EG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2"/>
          <p:cNvSpPr/>
          <p:nvPr/>
        </p:nvSpPr>
        <p:spPr>
          <a:xfrm>
            <a:off x="320040" y="48812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🌍  Bilingual (EN / AR · RTL)  •  Eastern Arabic-Indic numerals for EGP values  •  Cairo font (AR) / Inter font (EN)  •  Backend validation errors in requested language</a:t>
            </a:r>
            <a:endParaRPr lang="en-EG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0"/>
          <p:cNvSpPr/>
          <p:nvPr/>
        </p:nvSpPr>
        <p:spPr>
          <a:xfrm>
            <a:off x="0" y="0"/>
            <a:ext cx="9143640" cy="201132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"/>
          <p:cNvSpPr/>
          <p:nvPr/>
        </p:nvSpPr>
        <p:spPr>
          <a:xfrm>
            <a:off x="548640" y="27432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pc="400" strike="noStrike">
                <a:solidFill>
                  <a:srgbClr val="FFFFFF"/>
                </a:solidFill>
                <a:effectLst/>
                <a:uFillTx/>
                <a:latin typeface="Calibri"/>
              </a:rPr>
              <a:t>ABEM</a:t>
            </a:r>
            <a:endParaRPr lang="en-EG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"/>
          <p:cNvSpPr/>
          <p:nvPr/>
        </p:nvSpPr>
        <p:spPr>
          <a:xfrm>
            <a:off x="548640" y="10058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F0FA"/>
                </a:solidFill>
                <a:effectLst/>
                <a:uFillTx/>
                <a:latin typeface="Calibri"/>
              </a:rPr>
              <a:t>Complete Workflow Summary</a:t>
            </a:r>
            <a:endParaRPr lang="en-EG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3"/>
          <p:cNvSpPr/>
          <p:nvPr/>
        </p:nvSpPr>
        <p:spPr>
          <a:xfrm>
            <a:off x="320040" y="224028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4"/>
          <p:cNvSpPr/>
          <p:nvPr/>
        </p:nvSpPr>
        <p:spPr>
          <a:xfrm>
            <a:off x="429840" y="235008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5"/>
          <p:cNvSpPr/>
          <p:nvPr/>
        </p:nvSpPr>
        <p:spPr>
          <a:xfrm>
            <a:off x="429840" y="2350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6"/>
          <p:cNvSpPr/>
          <p:nvPr/>
        </p:nvSpPr>
        <p:spPr>
          <a:xfrm>
            <a:off x="868680" y="23500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Registration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7"/>
          <p:cNvSpPr/>
          <p:nvPr/>
        </p:nvSpPr>
        <p:spPr>
          <a:xfrm>
            <a:off x="429840" y="278892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3 paths: Owner · Admin · Invite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8"/>
          <p:cNvSpPr/>
          <p:nvPr/>
        </p:nvSpPr>
        <p:spPr>
          <a:xfrm>
            <a:off x="2496240" y="224028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9"/>
          <p:cNvSpPr/>
          <p:nvPr/>
        </p:nvSpPr>
        <p:spPr>
          <a:xfrm>
            <a:off x="2606040" y="235008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0"/>
          <p:cNvSpPr/>
          <p:nvPr/>
        </p:nvSpPr>
        <p:spPr>
          <a:xfrm>
            <a:off x="2606040" y="2350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1"/>
          <p:cNvSpPr/>
          <p:nvPr/>
        </p:nvSpPr>
        <p:spPr>
          <a:xfrm>
            <a:off x="3044880" y="23500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Building Setup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2"/>
          <p:cNvSpPr/>
          <p:nvPr/>
        </p:nvSpPr>
        <p:spPr>
          <a:xfrm>
            <a:off x="2606040" y="278892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Create → Auto-units → Invite owners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3"/>
          <p:cNvSpPr/>
          <p:nvPr/>
        </p:nvSpPr>
        <p:spPr>
          <a:xfrm>
            <a:off x="4672440" y="224028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4"/>
          <p:cNvSpPr/>
          <p:nvPr/>
        </p:nvSpPr>
        <p:spPr>
          <a:xfrm>
            <a:off x="4782240" y="235008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5"/>
          <p:cNvSpPr/>
          <p:nvPr/>
        </p:nvSpPr>
        <p:spPr>
          <a:xfrm>
            <a:off x="4782240" y="2350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6"/>
          <p:cNvSpPr/>
          <p:nvPr/>
        </p:nvSpPr>
        <p:spPr>
          <a:xfrm>
            <a:off x="5221080" y="23500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Expenses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7"/>
          <p:cNvSpPr/>
          <p:nvPr/>
        </p:nvSpPr>
        <p:spPr>
          <a:xfrm>
            <a:off x="4782240" y="278892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4 split types + rounding + categories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8"/>
          <p:cNvSpPr/>
          <p:nvPr/>
        </p:nvSpPr>
        <p:spPr>
          <a:xfrm>
            <a:off x="6849000" y="224028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9"/>
          <p:cNvSpPr/>
          <p:nvPr/>
        </p:nvSpPr>
        <p:spPr>
          <a:xfrm>
            <a:off x="6958440" y="235008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20"/>
          <p:cNvSpPr/>
          <p:nvPr/>
        </p:nvSpPr>
        <p:spPr>
          <a:xfrm>
            <a:off x="6958440" y="2350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1"/>
          <p:cNvSpPr/>
          <p:nvPr/>
        </p:nvSpPr>
        <p:spPr>
          <a:xfrm>
            <a:off x="7397640" y="23500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Payments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2"/>
          <p:cNvSpPr/>
          <p:nvPr/>
        </p:nvSpPr>
        <p:spPr>
          <a:xfrm>
            <a:off x="6958440" y="278892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Atomic ledger · PDF receipt · balance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23"/>
          <p:cNvSpPr/>
          <p:nvPr/>
        </p:nvSpPr>
        <p:spPr>
          <a:xfrm>
            <a:off x="320040" y="353880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4"/>
          <p:cNvSpPr/>
          <p:nvPr/>
        </p:nvSpPr>
        <p:spPr>
          <a:xfrm>
            <a:off x="429840" y="364860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5"/>
          <p:cNvSpPr/>
          <p:nvPr/>
        </p:nvSpPr>
        <p:spPr>
          <a:xfrm>
            <a:off x="429840" y="3648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6"/>
          <p:cNvSpPr/>
          <p:nvPr/>
        </p:nvSpPr>
        <p:spPr>
          <a:xfrm>
            <a:off x="868680" y="36486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Dashboards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7"/>
          <p:cNvSpPr/>
          <p:nvPr/>
        </p:nvSpPr>
        <p:spPr>
          <a:xfrm>
            <a:off x="429840" y="408744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Admin overview · Owner financials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8"/>
          <p:cNvSpPr/>
          <p:nvPr/>
        </p:nvSpPr>
        <p:spPr>
          <a:xfrm>
            <a:off x="2496240" y="353880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9"/>
          <p:cNvSpPr/>
          <p:nvPr/>
        </p:nvSpPr>
        <p:spPr>
          <a:xfrm>
            <a:off x="2606040" y="364860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0"/>
          <p:cNvSpPr/>
          <p:nvPr/>
        </p:nvSpPr>
        <p:spPr>
          <a:xfrm>
            <a:off x="2606040" y="3648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31"/>
          <p:cNvSpPr/>
          <p:nvPr/>
        </p:nvSpPr>
        <p:spPr>
          <a:xfrm>
            <a:off x="3044880" y="36486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Notifications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32"/>
          <p:cNvSpPr/>
          <p:nvPr/>
        </p:nvSpPr>
        <p:spPr>
          <a:xfrm>
            <a:off x="2606040" y="408744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Auto-triggers · Broadcast · DM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33"/>
          <p:cNvSpPr/>
          <p:nvPr/>
        </p:nvSpPr>
        <p:spPr>
          <a:xfrm>
            <a:off x="4672440" y="353880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34"/>
          <p:cNvSpPr/>
          <p:nvPr/>
        </p:nvSpPr>
        <p:spPr>
          <a:xfrm>
            <a:off x="4782240" y="364860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5"/>
          <p:cNvSpPr/>
          <p:nvPr/>
        </p:nvSpPr>
        <p:spPr>
          <a:xfrm>
            <a:off x="4782240" y="3648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36"/>
          <p:cNvSpPr/>
          <p:nvPr/>
        </p:nvSpPr>
        <p:spPr>
          <a:xfrm>
            <a:off x="5221080" y="36486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Audit &amp; Exports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7"/>
          <p:cNvSpPr/>
          <p:nvPr/>
        </p:nvSpPr>
        <p:spPr>
          <a:xfrm>
            <a:off x="4782240" y="408744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Full audit trail · CSV/XLSX export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38"/>
          <p:cNvSpPr/>
          <p:nvPr/>
        </p:nvSpPr>
        <p:spPr>
          <a:xfrm>
            <a:off x="6849000" y="3538800"/>
            <a:ext cx="2029680" cy="1115280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39"/>
          <p:cNvSpPr/>
          <p:nvPr/>
        </p:nvSpPr>
        <p:spPr>
          <a:xfrm>
            <a:off x="6958440" y="3648600"/>
            <a:ext cx="347040" cy="347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E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40"/>
          <p:cNvSpPr/>
          <p:nvPr/>
        </p:nvSpPr>
        <p:spPr>
          <a:xfrm>
            <a:off x="6958440" y="3648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EG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41"/>
          <p:cNvSpPr/>
          <p:nvPr/>
        </p:nvSpPr>
        <p:spPr>
          <a:xfrm>
            <a:off x="7397640" y="36486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Security</a:t>
            </a:r>
            <a:endParaRPr lang="en-EG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42"/>
          <p:cNvSpPr/>
          <p:nvPr/>
        </p:nvSpPr>
        <p:spPr>
          <a:xfrm>
            <a:off x="6958440" y="4087440"/>
            <a:ext cx="1810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4F0"/>
                </a:solidFill>
                <a:effectLst/>
                <a:uFillTx/>
                <a:latin typeface="Calibri"/>
              </a:rPr>
              <a:t>JWT · RBAC · Lockout · Multi-tenant</a:t>
            </a:r>
            <a:endParaRPr lang="en-EG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43"/>
          <p:cNvSpPr/>
          <p:nvPr/>
        </p:nvSpPr>
        <p:spPr>
          <a:xfrm>
            <a:off x="457200" y="4846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5B8DB8"/>
                </a:solidFill>
                <a:effectLst/>
                <a:uFillTx/>
                <a:latin typeface="Calibri"/>
              </a:rPr>
              <a:t>© 2026 ABEM  •  Apartment &amp; Building Expense Management  •  abem.app</a:t>
            </a:r>
            <a:endParaRPr lang="en-EG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LibreOffice/26.2.1.2$MacOSX_AARCH64 LibreOffice_project/8399f6259d8c87f40e7255cdb3c9b958f5e08948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2026-03-23T17:51:46Z</dcterms:created>
  <dc:creator>ABEM Team</dc:creator>
  <dc:description/>
  <dc:language>en-EG</dc:language>
  <cp:lastModifiedBy/>
  <dcterms:modified xsi:type="dcterms:W3CDTF">2026-03-23T20:27:42Z</dcterms:modified>
  <cp:revision>2</cp:revision>
  <dc:subject>PptxGenJS Presentation</dc:subject>
  <dc:title>ABEM — Application Workflow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